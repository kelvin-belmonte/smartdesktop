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smartDesktop is an offline voice assistant: say 'Jarvis, start dev' and it opens a terminal and runs your dev server. That also means it turns speech into shell commands, and nobody had ever audited it. We gave it to IBM Bob.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goes from wake word to Whisper to a substring parser to subprocess calls. Config values and transcripts flowed into shell=True and AppleScript strings. There was no confirmation, a test that could never fail, and one CI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just say 'fix it'. We wrote a playbook of nine tasks. Each runs in a custom Bob mode that can edit only its own files and has to pass a check before it's done. The analyst documents, the auditor audits, the tester proves bugs, and the developer fixes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Bob explored the code and audited it: nine findings, two critical, where a misheard phrase or a config value could inject AppleScript or cmd commands. Before fixing anything, Bob proved seven bugs with tests that fail. Only then did the developer mode fix them, removing each xfail without touching a single assertion.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tests went from 45 to 163, and CI from one job to eight, across three operating systems. The two critical injections are gone, along with every high-severity bandit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Bob then built what the project was missing: a text mode and a dry-run mode that return a structured plan instead of acting. That powers the playground, which shows exactly what each phrase would do on Windows, macOS and Linux. It's always dry-run, and a test proves no process is ever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Bob wasn't perfect, and that's on the record too. Once it rebuilt the playground and dropped tests. The guardrails caught it and Bob restored them. CI caught an import that only broke on older Python. Every transcript is in the repo. smartDesktop, explored, fixed and built with IBM Bob.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640080" y="640080"/>
            <a:ext cx="5577840" cy="329184"/>
          </a:xfrm>
          <a:prstGeom prst="roundRect">
            <a:avLst>
              <a:gd name="adj" fmla="val 22222"/>
            </a:avLst>
          </a:prstGeom>
          <a:solidFill>
            <a:srgbClr val="1A2029"/>
          </a:solidFill>
          <a:ln/>
        </p:spPr>
        <p:txBody>
          <a:bodyPr wrap="square" lIns="0" tIns="0" rIns="0" bIns="0" rtlCol="0" anchor="ctr"/>
          <a:lstStyle/>
          <a:p>
            <a:pPr algn="ctr" indent="0" marL="0">
              <a:buNone/>
            </a:pPr>
            <a:r>
              <a:rPr lang="en-US" sz="1100" b="1" dirty="0">
                <a:solidFill>
                  <a:srgbClr val="78A9FF"/>
                </a:solidFill>
                <a:latin typeface="Courier New" pitchFamily="34" charset="0"/>
                <a:ea typeface="Courier New" pitchFamily="34" charset="-122"/>
                <a:cs typeface="Courier New" pitchFamily="34" charset="-120"/>
              </a:rPr>
              <a:t>IBM BOB HACKATHON · THEME 1: EXPLORE, FIX, AND BUILD</a:t>
            </a:r>
            <a:endParaRPr lang="en-US" sz="1100" dirty="0"/>
          </a:p>
        </p:txBody>
      </p:sp>
      <p:pic>
        <p:nvPicPr>
          <p:cNvPr id="3" name="Image 0" descr="preencoded.png">    </p:cNvPr>
          <p:cNvPicPr>
            <a:picLocks noChangeAspect="1"/>
          </p:cNvPicPr>
          <p:nvPr/>
        </p:nvPicPr>
        <p:blipFill>
          <a:blip r:embed="rId1"/>
          <a:stretch>
            <a:fillRect/>
          </a:stretch>
        </p:blipFill>
        <p:spPr>
          <a:xfrm>
            <a:off x="10378440" y="603504"/>
            <a:ext cx="1188720" cy="517550"/>
          </a:xfrm>
          <a:prstGeom prst="rect">
            <a:avLst/>
          </a:prstGeom>
        </p:spPr>
      </p:pic>
      <p:sp>
        <p:nvSpPr>
          <p:cNvPr id="4" name="Text 1"/>
          <p:cNvSpPr/>
          <p:nvPr/>
        </p:nvSpPr>
        <p:spPr>
          <a:xfrm>
            <a:off x="640080" y="1417320"/>
            <a:ext cx="6766560" cy="100584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smartDesktop</a:t>
            </a:r>
            <a:endParaRPr lang="en-US" sz="6000" dirty="0"/>
          </a:p>
        </p:txBody>
      </p:sp>
      <p:sp>
        <p:nvSpPr>
          <p:cNvPr id="5" name="Text 2"/>
          <p:cNvSpPr/>
          <p:nvPr/>
        </p:nvSpPr>
        <p:spPr>
          <a:xfrm>
            <a:off x="640080" y="2423160"/>
            <a:ext cx="6949440" cy="548640"/>
          </a:xfrm>
          <a:prstGeom prst="rect">
            <a:avLst/>
          </a:prstGeom>
          <a:noFill/>
          <a:ln/>
        </p:spPr>
        <p:txBody>
          <a:bodyPr wrap="square" lIns="0" tIns="0" rIns="0" bIns="0" rtlCol="0" anchor="ctr"/>
          <a:lstStyle/>
          <a:p>
            <a:pPr indent="0" marL="0">
              <a:buNone/>
            </a:pPr>
            <a:r>
              <a:rPr lang="en-US" sz="2600" dirty="0">
                <a:solidFill>
                  <a:srgbClr val="78A9FF"/>
                </a:solidFill>
                <a:latin typeface="Arial" pitchFamily="34" charset="0"/>
                <a:ea typeface="Arial" pitchFamily="34" charset="-122"/>
                <a:cs typeface="Arial" pitchFamily="34" charset="-120"/>
              </a:rPr>
              <a:t>explored, fixed and built by IBM Bob</a:t>
            </a:r>
            <a:endParaRPr lang="en-US" sz="2600" dirty="0"/>
          </a:p>
        </p:txBody>
      </p:sp>
      <p:sp>
        <p:nvSpPr>
          <p:cNvPr id="6" name="Text 3"/>
          <p:cNvSpPr/>
          <p:nvPr/>
        </p:nvSpPr>
        <p:spPr>
          <a:xfrm>
            <a:off x="640080" y="3246120"/>
            <a:ext cx="6217920" cy="822960"/>
          </a:xfrm>
          <a:prstGeom prst="rect">
            <a:avLst/>
          </a:prstGeom>
          <a:noFill/>
          <a:ln/>
        </p:spPr>
        <p:txBody>
          <a:bodyPr wrap="square" lIns="0" tIns="0" rIns="0" bIns="0" rtlCol="0" anchor="ctr"/>
          <a:lstStyle/>
          <a:p>
            <a:pPr indent="0" marL="0">
              <a:buNone/>
            </a:pPr>
            <a:r>
              <a:rPr lang="en-US" sz="1700" dirty="0">
                <a:solidFill>
                  <a:srgbClr val="B8C1CC"/>
                </a:solidFill>
                <a:latin typeface="Arial" pitchFamily="34" charset="0"/>
                <a:ea typeface="Arial" pitchFamily="34" charset="-122"/>
                <a:cs typeface="Arial" pitchFamily="34" charset="-120"/>
              </a:rPr>
              <a:t>An offline voice assistant that turns speech into shell commands, and had never been audited.</a:t>
            </a:r>
            <a:endParaRPr lang="en-US" sz="1700" dirty="0"/>
          </a:p>
        </p:txBody>
      </p:sp>
      <p:pic>
        <p:nvPicPr>
          <p:cNvPr id="7" name="Image 1" descr="preencoded.png">    </p:cNvPr>
          <p:cNvPicPr>
            <a:picLocks noChangeAspect="1"/>
          </p:cNvPicPr>
          <p:nvPr/>
        </p:nvPicPr>
        <p:blipFill>
          <a:blip r:embed="rId2"/>
          <a:stretch>
            <a:fillRect/>
          </a:stretch>
        </p:blipFill>
        <p:spPr>
          <a:xfrm>
            <a:off x="7955280" y="1234440"/>
            <a:ext cx="3291840" cy="3291840"/>
          </a:xfrm>
          <a:prstGeom prst="rect">
            <a:avLst/>
          </a:prstGeom>
        </p:spPr>
      </p:pic>
      <p:sp>
        <p:nvSpPr>
          <p:cNvPr id="8" name="Shape 4"/>
          <p:cNvSpPr/>
          <p:nvPr/>
        </p:nvSpPr>
        <p:spPr>
          <a:xfrm>
            <a:off x="8001000" y="4758309"/>
            <a:ext cx="109728" cy="176022"/>
          </a:xfrm>
          <a:prstGeom prst="roundRect">
            <a:avLst>
              <a:gd name="adj" fmla="val 50000"/>
            </a:avLst>
          </a:prstGeom>
          <a:solidFill>
            <a:srgbClr val="A56EFF"/>
          </a:solidFill>
          <a:ln w="12700">
            <a:solidFill>
              <a:srgbClr val="A56EFF"/>
            </a:solidFill>
            <a:prstDash val="solid"/>
          </a:ln>
        </p:spPr>
      </p:sp>
      <p:sp>
        <p:nvSpPr>
          <p:cNvPr id="9" name="Shape 5"/>
          <p:cNvSpPr/>
          <p:nvPr/>
        </p:nvSpPr>
        <p:spPr>
          <a:xfrm>
            <a:off x="8202168" y="4620006"/>
            <a:ext cx="109728" cy="452628"/>
          </a:xfrm>
          <a:prstGeom prst="roundRect">
            <a:avLst>
              <a:gd name="adj" fmla="val 50000"/>
            </a:avLst>
          </a:prstGeom>
          <a:solidFill>
            <a:srgbClr val="A56EFF"/>
          </a:solidFill>
          <a:ln w="12700">
            <a:solidFill>
              <a:srgbClr val="A56EFF"/>
            </a:solidFill>
            <a:prstDash val="solid"/>
          </a:ln>
        </p:spPr>
      </p:sp>
      <p:sp>
        <p:nvSpPr>
          <p:cNvPr id="10" name="Shape 6"/>
          <p:cNvSpPr/>
          <p:nvPr/>
        </p:nvSpPr>
        <p:spPr>
          <a:xfrm>
            <a:off x="8403336" y="4594860"/>
            <a:ext cx="109728" cy="502920"/>
          </a:xfrm>
          <a:prstGeom prst="roundRect">
            <a:avLst>
              <a:gd name="adj" fmla="val 50000"/>
            </a:avLst>
          </a:prstGeom>
          <a:solidFill>
            <a:srgbClr val="A56EFF"/>
          </a:solidFill>
          <a:ln w="12700">
            <a:solidFill>
              <a:srgbClr val="A56EFF"/>
            </a:solidFill>
            <a:prstDash val="solid"/>
          </a:ln>
        </p:spPr>
      </p:sp>
      <p:sp>
        <p:nvSpPr>
          <p:cNvPr id="11" name="Shape 7"/>
          <p:cNvSpPr/>
          <p:nvPr/>
        </p:nvSpPr>
        <p:spPr>
          <a:xfrm>
            <a:off x="8604504" y="4745736"/>
            <a:ext cx="109728" cy="201168"/>
          </a:xfrm>
          <a:prstGeom prst="roundRect">
            <a:avLst>
              <a:gd name="adj" fmla="val 50000"/>
            </a:avLst>
          </a:prstGeom>
          <a:solidFill>
            <a:srgbClr val="A56EFF"/>
          </a:solidFill>
          <a:ln w="12700">
            <a:solidFill>
              <a:srgbClr val="A56EFF"/>
            </a:solidFill>
            <a:prstDash val="solid"/>
          </a:ln>
        </p:spPr>
      </p:sp>
      <p:sp>
        <p:nvSpPr>
          <p:cNvPr id="12" name="Shape 8"/>
          <p:cNvSpPr/>
          <p:nvPr/>
        </p:nvSpPr>
        <p:spPr>
          <a:xfrm>
            <a:off x="8805672" y="4720590"/>
            <a:ext cx="109728" cy="251460"/>
          </a:xfrm>
          <a:prstGeom prst="roundRect">
            <a:avLst>
              <a:gd name="adj" fmla="val 50000"/>
            </a:avLst>
          </a:prstGeom>
          <a:solidFill>
            <a:srgbClr val="A56EFF"/>
          </a:solidFill>
          <a:ln w="12700">
            <a:solidFill>
              <a:srgbClr val="A56EFF"/>
            </a:solidFill>
            <a:prstDash val="solid"/>
          </a:ln>
        </p:spPr>
      </p:sp>
      <p:sp>
        <p:nvSpPr>
          <p:cNvPr id="13" name="Shape 9"/>
          <p:cNvSpPr/>
          <p:nvPr/>
        </p:nvSpPr>
        <p:spPr>
          <a:xfrm>
            <a:off x="9006840" y="4682871"/>
            <a:ext cx="109728" cy="326898"/>
          </a:xfrm>
          <a:prstGeom prst="roundRect">
            <a:avLst>
              <a:gd name="adj" fmla="val 50000"/>
            </a:avLst>
          </a:prstGeom>
          <a:solidFill>
            <a:srgbClr val="A56EFF"/>
          </a:solidFill>
          <a:ln w="12700">
            <a:solidFill>
              <a:srgbClr val="A56EFF"/>
            </a:solidFill>
            <a:prstDash val="solid"/>
          </a:ln>
        </p:spPr>
      </p:sp>
      <p:sp>
        <p:nvSpPr>
          <p:cNvPr id="14" name="Shape 10"/>
          <p:cNvSpPr/>
          <p:nvPr/>
        </p:nvSpPr>
        <p:spPr>
          <a:xfrm>
            <a:off x="9208008" y="4657725"/>
            <a:ext cx="109728" cy="377190"/>
          </a:xfrm>
          <a:prstGeom prst="roundRect">
            <a:avLst>
              <a:gd name="adj" fmla="val 50000"/>
            </a:avLst>
          </a:prstGeom>
          <a:solidFill>
            <a:srgbClr val="A56EFF"/>
          </a:solidFill>
          <a:ln w="12700">
            <a:solidFill>
              <a:srgbClr val="A56EFF"/>
            </a:solidFill>
            <a:prstDash val="solid"/>
          </a:ln>
        </p:spPr>
      </p:sp>
      <p:sp>
        <p:nvSpPr>
          <p:cNvPr id="15" name="Shape 11"/>
          <p:cNvSpPr/>
          <p:nvPr/>
        </p:nvSpPr>
        <p:spPr>
          <a:xfrm>
            <a:off x="9409176" y="4632579"/>
            <a:ext cx="109728" cy="427482"/>
          </a:xfrm>
          <a:prstGeom prst="roundRect">
            <a:avLst>
              <a:gd name="adj" fmla="val 50000"/>
            </a:avLst>
          </a:prstGeom>
          <a:solidFill>
            <a:srgbClr val="A56EFF"/>
          </a:solidFill>
          <a:ln w="12700">
            <a:solidFill>
              <a:srgbClr val="A56EFF"/>
            </a:solidFill>
            <a:prstDash val="solid"/>
          </a:ln>
        </p:spPr>
      </p:sp>
      <p:sp>
        <p:nvSpPr>
          <p:cNvPr id="16" name="Shape 12"/>
          <p:cNvSpPr/>
          <p:nvPr/>
        </p:nvSpPr>
        <p:spPr>
          <a:xfrm>
            <a:off x="9610344" y="4758309"/>
            <a:ext cx="109728" cy="176022"/>
          </a:xfrm>
          <a:prstGeom prst="roundRect">
            <a:avLst>
              <a:gd name="adj" fmla="val 50000"/>
            </a:avLst>
          </a:prstGeom>
          <a:solidFill>
            <a:srgbClr val="A56EFF"/>
          </a:solidFill>
          <a:ln w="12700">
            <a:solidFill>
              <a:srgbClr val="A56EFF"/>
            </a:solidFill>
            <a:prstDash val="solid"/>
          </a:ln>
        </p:spPr>
      </p:sp>
      <p:sp>
        <p:nvSpPr>
          <p:cNvPr id="17" name="Shape 13"/>
          <p:cNvSpPr/>
          <p:nvPr/>
        </p:nvSpPr>
        <p:spPr>
          <a:xfrm>
            <a:off x="9811512" y="4620006"/>
            <a:ext cx="109728" cy="452628"/>
          </a:xfrm>
          <a:prstGeom prst="roundRect">
            <a:avLst>
              <a:gd name="adj" fmla="val 50000"/>
            </a:avLst>
          </a:prstGeom>
          <a:solidFill>
            <a:srgbClr val="A56EFF"/>
          </a:solidFill>
          <a:ln w="12700">
            <a:solidFill>
              <a:srgbClr val="A56EFF"/>
            </a:solidFill>
            <a:prstDash val="solid"/>
          </a:ln>
        </p:spPr>
      </p:sp>
      <p:sp>
        <p:nvSpPr>
          <p:cNvPr id="18" name="Shape 14"/>
          <p:cNvSpPr/>
          <p:nvPr/>
        </p:nvSpPr>
        <p:spPr>
          <a:xfrm>
            <a:off x="10012680" y="4594860"/>
            <a:ext cx="109728" cy="502920"/>
          </a:xfrm>
          <a:prstGeom prst="roundRect">
            <a:avLst>
              <a:gd name="adj" fmla="val 50000"/>
            </a:avLst>
          </a:prstGeom>
          <a:solidFill>
            <a:srgbClr val="A56EFF"/>
          </a:solidFill>
          <a:ln w="12700">
            <a:solidFill>
              <a:srgbClr val="A56EFF"/>
            </a:solidFill>
            <a:prstDash val="solid"/>
          </a:ln>
        </p:spPr>
      </p:sp>
      <p:sp>
        <p:nvSpPr>
          <p:cNvPr id="19" name="Shape 15"/>
          <p:cNvSpPr/>
          <p:nvPr/>
        </p:nvSpPr>
        <p:spPr>
          <a:xfrm>
            <a:off x="10213848" y="4745736"/>
            <a:ext cx="109728" cy="201168"/>
          </a:xfrm>
          <a:prstGeom prst="roundRect">
            <a:avLst>
              <a:gd name="adj" fmla="val 50000"/>
            </a:avLst>
          </a:prstGeom>
          <a:solidFill>
            <a:srgbClr val="A56EFF"/>
          </a:solidFill>
          <a:ln w="12700">
            <a:solidFill>
              <a:srgbClr val="A56EFF"/>
            </a:solidFill>
            <a:prstDash val="solid"/>
          </a:ln>
        </p:spPr>
      </p:sp>
      <p:sp>
        <p:nvSpPr>
          <p:cNvPr id="20" name="Shape 16"/>
          <p:cNvSpPr/>
          <p:nvPr/>
        </p:nvSpPr>
        <p:spPr>
          <a:xfrm>
            <a:off x="10415016" y="4720590"/>
            <a:ext cx="109728" cy="251460"/>
          </a:xfrm>
          <a:prstGeom prst="roundRect">
            <a:avLst>
              <a:gd name="adj" fmla="val 50000"/>
            </a:avLst>
          </a:prstGeom>
          <a:solidFill>
            <a:srgbClr val="A56EFF"/>
          </a:solidFill>
          <a:ln w="12700">
            <a:solidFill>
              <a:srgbClr val="A56EFF"/>
            </a:solidFill>
            <a:prstDash val="solid"/>
          </a:ln>
        </p:spPr>
      </p:sp>
      <p:sp>
        <p:nvSpPr>
          <p:cNvPr id="21" name="Shape 17"/>
          <p:cNvSpPr/>
          <p:nvPr/>
        </p:nvSpPr>
        <p:spPr>
          <a:xfrm>
            <a:off x="10616184" y="4682871"/>
            <a:ext cx="109728" cy="326898"/>
          </a:xfrm>
          <a:prstGeom prst="roundRect">
            <a:avLst>
              <a:gd name="adj" fmla="val 50000"/>
            </a:avLst>
          </a:prstGeom>
          <a:solidFill>
            <a:srgbClr val="A56EFF"/>
          </a:solidFill>
          <a:ln w="12700">
            <a:solidFill>
              <a:srgbClr val="A56EFF"/>
            </a:solidFill>
            <a:prstDash val="solid"/>
          </a:ln>
        </p:spPr>
      </p:sp>
      <p:sp>
        <p:nvSpPr>
          <p:cNvPr id="22" name="Shape 18"/>
          <p:cNvSpPr/>
          <p:nvPr/>
        </p:nvSpPr>
        <p:spPr>
          <a:xfrm>
            <a:off x="10817352" y="4657725"/>
            <a:ext cx="109728" cy="377190"/>
          </a:xfrm>
          <a:prstGeom prst="roundRect">
            <a:avLst>
              <a:gd name="adj" fmla="val 50000"/>
            </a:avLst>
          </a:prstGeom>
          <a:solidFill>
            <a:srgbClr val="A56EFF"/>
          </a:solidFill>
          <a:ln w="12700">
            <a:solidFill>
              <a:srgbClr val="A56EFF"/>
            </a:solidFill>
            <a:prstDash val="solid"/>
          </a:ln>
        </p:spPr>
      </p:sp>
      <p:sp>
        <p:nvSpPr>
          <p:cNvPr id="23" name="Shape 19"/>
          <p:cNvSpPr/>
          <p:nvPr/>
        </p:nvSpPr>
        <p:spPr>
          <a:xfrm>
            <a:off x="11018520" y="4632579"/>
            <a:ext cx="109728" cy="427482"/>
          </a:xfrm>
          <a:prstGeom prst="roundRect">
            <a:avLst>
              <a:gd name="adj" fmla="val 50000"/>
            </a:avLst>
          </a:prstGeom>
          <a:solidFill>
            <a:srgbClr val="A56EFF"/>
          </a:solidFill>
          <a:ln w="12700">
            <a:solidFill>
              <a:srgbClr val="A56EFF"/>
            </a:solidFill>
            <a:prstDash val="solid"/>
          </a:ln>
        </p:spPr>
      </p:sp>
      <p:sp>
        <p:nvSpPr>
          <p:cNvPr id="24" name="Text 20"/>
          <p:cNvSpPr/>
          <p:nvPr/>
        </p:nvSpPr>
        <p:spPr>
          <a:xfrm>
            <a:off x="640080" y="5120640"/>
            <a:ext cx="6858000" cy="731520"/>
          </a:xfrm>
          <a:prstGeom prst="rect">
            <a:avLst/>
          </a:prstGeom>
          <a:noFill/>
          <a:ln/>
        </p:spPr>
        <p:txBody>
          <a:bodyPr wrap="square" lIns="0" tIns="0" rIns="0" bIns="0" rtlCol="0" anchor="ctr"/>
          <a:lstStyle/>
          <a:p>
            <a:pPr indent="0" marL="0">
              <a:spcAft>
                <a:spcPts val="400"/>
              </a:spcAft>
              <a:buNone/>
            </a:pPr>
            <a:r>
              <a:rPr lang="en-US" sz="1400" dirty="0">
                <a:solidFill>
                  <a:srgbClr val="FFFFFF"/>
                </a:solidFill>
                <a:latin typeface="Courier New" pitchFamily="34" charset="0"/>
                <a:ea typeface="Courier New" pitchFamily="34" charset="-122"/>
                <a:cs typeface="Courier New" pitchFamily="34" charset="-120"/>
              </a:rPr>
              <a:t>→ smartdesktop-playground.onrender.com</a:t>
            </a:r>
            <a:endParaRPr lang="en-US" sz="1400" dirty="0"/>
          </a:p>
          <a:p>
            <a:pPr indent="0" marL="0">
              <a:spcAft>
                <a:spcPts val="400"/>
              </a:spcAft>
              <a:buNone/>
            </a:pPr>
            <a:r>
              <a:rPr lang="en-US" sz="1400" dirty="0">
                <a:solidFill>
                  <a:srgbClr val="B8C1CC"/>
                </a:solidFill>
                <a:latin typeface="Courier New" pitchFamily="34" charset="0"/>
                <a:ea typeface="Courier New" pitchFamily="34" charset="-122"/>
                <a:cs typeface="Courier New" pitchFamily="34" charset="-120"/>
              </a:rPr>
              <a:t>github.com/Kelvin-Belmonte/smartDesktop</a:t>
            </a:r>
            <a:endParaRPr lang="en-US" sz="1400" dirty="0"/>
          </a:p>
        </p:txBody>
      </p:sp>
      <p:sp>
        <p:nvSpPr>
          <p:cNvPr id="25" name="Text 21"/>
          <p:cNvSpPr/>
          <p:nvPr/>
        </p:nvSpPr>
        <p:spPr>
          <a:xfrm>
            <a:off x="7726680" y="5349240"/>
            <a:ext cx="3840480" cy="365760"/>
          </a:xfrm>
          <a:prstGeom prst="rect">
            <a:avLst/>
          </a:prstGeom>
          <a:noFill/>
          <a:ln/>
        </p:spPr>
        <p:txBody>
          <a:bodyPr wrap="square" lIns="0" tIns="0" rIns="0" bIns="0" rtlCol="0" anchor="ctr"/>
          <a:lstStyle/>
          <a:p>
            <a:pPr algn="r" indent="0" marL="0">
              <a:buNone/>
            </a:pPr>
            <a:r>
              <a:rPr lang="en-US" sz="1400" dirty="0">
                <a:solidFill>
                  <a:srgbClr val="B8C1CC"/>
                </a:solidFill>
                <a:latin typeface="Arial" pitchFamily="34" charset="0"/>
                <a:ea typeface="Arial" pitchFamily="34" charset="-122"/>
                <a:cs typeface="Arial" pitchFamily="34" charset="-120"/>
              </a:rPr>
              <a:t>Team Kelvin-Belmonte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400" b="1" dirty="0">
                <a:solidFill>
                  <a:srgbClr val="1B2430"/>
                </a:solidFill>
                <a:latin typeface="Arial" pitchFamily="34" charset="0"/>
                <a:ea typeface="Arial" pitchFamily="34" charset="-122"/>
                <a:cs typeface="Arial" pitchFamily="34" charset="-120"/>
              </a:rPr>
              <a:t>Speech goes straight to the shell</a:t>
            </a:r>
            <a:endParaRPr lang="en-US" sz="3400" dirty="0"/>
          </a:p>
        </p:txBody>
      </p:sp>
      <p:sp>
        <p:nvSpPr>
          <p:cNvPr id="3" name="Text 1"/>
          <p:cNvSpPr/>
          <p:nvPr/>
        </p:nvSpPr>
        <p:spPr>
          <a:xfrm>
            <a:off x="640080" y="1508760"/>
            <a:ext cx="1874520" cy="960120"/>
          </a:xfrm>
          <a:prstGeom prst="roundRect">
            <a:avLst>
              <a:gd name="adj" fmla="val 9524"/>
            </a:avLst>
          </a:prstGeom>
          <a:solidFill>
            <a:srgbClr val="F2F4F7"/>
          </a:solidFill>
          <a:ln/>
        </p:spPr>
        <p:txBody>
          <a:bodyPr wrap="square" lIns="635" tIns="635" rIns="635" bIns="635" rtlCol="0" anchor="ctr"/>
          <a:lstStyle/>
          <a:p>
            <a:pPr algn="ctr" indent="0" marL="0">
              <a:buNone/>
            </a:pPr>
            <a:r>
              <a:rPr lang="en-US" sz="1500" b="1" dirty="0">
                <a:solidFill>
                  <a:srgbClr val="1B2430"/>
                </a:solidFill>
                <a:latin typeface="Arial" pitchFamily="34" charset="0"/>
                <a:ea typeface="Arial" pitchFamily="34" charset="-122"/>
                <a:cs typeface="Arial" pitchFamily="34" charset="-120"/>
              </a:rPr>
              <a:t>“Jarvis”</a:t>
            </a:r>
            <a:endParaRPr lang="en-US" sz="1500" dirty="0"/>
          </a:p>
          <a:p>
            <a:pPr algn="ctr" indent="0" marL="0">
              <a:buNone/>
            </a:pPr>
            <a:r>
              <a:rPr lang="en-US" sz="1100" dirty="0">
                <a:solidFill>
                  <a:srgbClr val="1B2430"/>
                </a:solidFill>
                <a:latin typeface="Courier New" pitchFamily="34" charset="0"/>
                <a:ea typeface="Courier New" pitchFamily="34" charset="-122"/>
                <a:cs typeface="Courier New" pitchFamily="34" charset="-120"/>
              </a:rPr>
              <a:t>Porcupine wake word</a:t>
            </a:r>
            <a:endParaRPr lang="en-US" sz="1500" dirty="0"/>
          </a:p>
        </p:txBody>
      </p:sp>
      <p:sp>
        <p:nvSpPr>
          <p:cNvPr id="4" name="Shape 2"/>
          <p:cNvSpPr/>
          <p:nvPr/>
        </p:nvSpPr>
        <p:spPr>
          <a:xfrm>
            <a:off x="2569464" y="1988820"/>
            <a:ext cx="256032" cy="0"/>
          </a:xfrm>
          <a:prstGeom prst="line">
            <a:avLst/>
          </a:prstGeom>
          <a:noFill/>
          <a:ln w="22225">
            <a:solidFill>
              <a:srgbClr val="5B6675"/>
            </a:solidFill>
            <a:prstDash val="solid"/>
            <a:tailEnd type="triangle"/>
          </a:ln>
        </p:spPr>
      </p:sp>
      <p:sp>
        <p:nvSpPr>
          <p:cNvPr id="5" name="Text 3"/>
          <p:cNvSpPr/>
          <p:nvPr/>
        </p:nvSpPr>
        <p:spPr>
          <a:xfrm>
            <a:off x="2880360" y="1508760"/>
            <a:ext cx="1874520" cy="960120"/>
          </a:xfrm>
          <a:prstGeom prst="roundRect">
            <a:avLst>
              <a:gd name="adj" fmla="val 9524"/>
            </a:avLst>
          </a:prstGeom>
          <a:solidFill>
            <a:srgbClr val="F2F4F7"/>
          </a:solidFill>
          <a:ln/>
        </p:spPr>
        <p:txBody>
          <a:bodyPr wrap="square" lIns="635" tIns="635" rIns="635" bIns="635" rtlCol="0" anchor="ctr"/>
          <a:lstStyle/>
          <a:p>
            <a:pPr algn="ctr" indent="0" marL="0">
              <a:buNone/>
            </a:pPr>
            <a:r>
              <a:rPr lang="en-US" sz="1500" b="1" dirty="0">
                <a:solidFill>
                  <a:srgbClr val="1B2430"/>
                </a:solidFill>
                <a:latin typeface="Arial" pitchFamily="34" charset="0"/>
                <a:ea typeface="Arial" pitchFamily="34" charset="-122"/>
                <a:cs typeface="Arial" pitchFamily="34" charset="-120"/>
              </a:rPr>
              <a:t>Faster-Whisper</a:t>
            </a:r>
            <a:endParaRPr lang="en-US" sz="1500" dirty="0"/>
          </a:p>
          <a:p>
            <a:pPr algn="ctr" indent="0" marL="0">
              <a:buNone/>
            </a:pPr>
            <a:r>
              <a:rPr lang="en-US" sz="1100" dirty="0">
                <a:solidFill>
                  <a:srgbClr val="1B2430"/>
                </a:solidFill>
                <a:latin typeface="Courier New" pitchFamily="34" charset="0"/>
                <a:ea typeface="Courier New" pitchFamily="34" charset="-122"/>
                <a:cs typeface="Courier New" pitchFamily="34" charset="-120"/>
              </a:rPr>
              <a:t>speech → text</a:t>
            </a:r>
            <a:endParaRPr lang="en-US" sz="1500" dirty="0"/>
          </a:p>
        </p:txBody>
      </p:sp>
      <p:sp>
        <p:nvSpPr>
          <p:cNvPr id="6" name="Shape 4"/>
          <p:cNvSpPr/>
          <p:nvPr/>
        </p:nvSpPr>
        <p:spPr>
          <a:xfrm>
            <a:off x="4809744" y="1988820"/>
            <a:ext cx="256032" cy="0"/>
          </a:xfrm>
          <a:prstGeom prst="line">
            <a:avLst/>
          </a:prstGeom>
          <a:noFill/>
          <a:ln w="22225">
            <a:solidFill>
              <a:srgbClr val="5B6675"/>
            </a:solidFill>
            <a:prstDash val="solid"/>
            <a:tailEnd type="triangle"/>
          </a:ln>
        </p:spPr>
      </p:sp>
      <p:sp>
        <p:nvSpPr>
          <p:cNvPr id="7" name="Text 5"/>
          <p:cNvSpPr/>
          <p:nvPr/>
        </p:nvSpPr>
        <p:spPr>
          <a:xfrm>
            <a:off x="5120640" y="1508760"/>
            <a:ext cx="1874520" cy="960120"/>
          </a:xfrm>
          <a:prstGeom prst="roundRect">
            <a:avLst>
              <a:gd name="adj" fmla="val 9524"/>
            </a:avLst>
          </a:prstGeom>
          <a:solidFill>
            <a:srgbClr val="F2F4F7"/>
          </a:solidFill>
          <a:ln/>
        </p:spPr>
        <p:txBody>
          <a:bodyPr wrap="square" lIns="635" tIns="635" rIns="635" bIns="635" rtlCol="0" anchor="ctr"/>
          <a:lstStyle/>
          <a:p>
            <a:pPr algn="ctr" indent="0" marL="0">
              <a:buNone/>
            </a:pPr>
            <a:r>
              <a:rPr lang="en-US" sz="1500" b="1" dirty="0">
                <a:solidFill>
                  <a:srgbClr val="1B2430"/>
                </a:solidFill>
                <a:latin typeface="Arial" pitchFamily="34" charset="0"/>
                <a:ea typeface="Arial" pitchFamily="34" charset="-122"/>
                <a:cs typeface="Arial" pitchFamily="34" charset="-120"/>
              </a:rPr>
              <a:t>CommandParser</a:t>
            </a:r>
            <a:endParaRPr lang="en-US" sz="1500" dirty="0"/>
          </a:p>
          <a:p>
            <a:pPr algn="ctr" indent="0" marL="0">
              <a:buNone/>
            </a:pPr>
            <a:r>
              <a:rPr lang="en-US" sz="1100" dirty="0">
                <a:solidFill>
                  <a:srgbClr val="1B2430"/>
                </a:solidFill>
                <a:latin typeface="Courier New" pitchFamily="34" charset="0"/>
                <a:ea typeface="Courier New" pitchFamily="34" charset="-122"/>
                <a:cs typeface="Courier New" pitchFamily="34" charset="-120"/>
              </a:rPr>
              <a:t>substring match</a:t>
            </a:r>
            <a:endParaRPr lang="en-US" sz="1500" dirty="0"/>
          </a:p>
        </p:txBody>
      </p:sp>
      <p:sp>
        <p:nvSpPr>
          <p:cNvPr id="8" name="Shape 6"/>
          <p:cNvSpPr/>
          <p:nvPr/>
        </p:nvSpPr>
        <p:spPr>
          <a:xfrm>
            <a:off x="7050024" y="1988820"/>
            <a:ext cx="256032" cy="0"/>
          </a:xfrm>
          <a:prstGeom prst="line">
            <a:avLst/>
          </a:prstGeom>
          <a:noFill/>
          <a:ln w="22225">
            <a:solidFill>
              <a:srgbClr val="5B6675"/>
            </a:solidFill>
            <a:prstDash val="solid"/>
            <a:tailEnd type="triangle"/>
          </a:ln>
        </p:spPr>
      </p:sp>
      <p:sp>
        <p:nvSpPr>
          <p:cNvPr id="9" name="Text 7"/>
          <p:cNvSpPr/>
          <p:nvPr/>
        </p:nvSpPr>
        <p:spPr>
          <a:xfrm>
            <a:off x="7360920" y="1508760"/>
            <a:ext cx="1874520" cy="960120"/>
          </a:xfrm>
          <a:prstGeom prst="roundRect">
            <a:avLst>
              <a:gd name="adj" fmla="val 9524"/>
            </a:avLst>
          </a:prstGeom>
          <a:solidFill>
            <a:srgbClr val="F2F4F7"/>
          </a:solidFill>
          <a:ln/>
        </p:spPr>
        <p:txBody>
          <a:bodyPr wrap="square" lIns="635" tIns="635" rIns="635" bIns="635" rtlCol="0" anchor="ctr"/>
          <a:lstStyle/>
          <a:p>
            <a:pPr algn="ctr" indent="0" marL="0">
              <a:buNone/>
            </a:pPr>
            <a:r>
              <a:rPr lang="en-US" sz="1500" b="1" dirty="0">
                <a:solidFill>
                  <a:srgbClr val="1B2430"/>
                </a:solidFill>
                <a:latin typeface="Arial" pitchFamily="34" charset="0"/>
                <a:ea typeface="Arial" pitchFamily="34" charset="-122"/>
                <a:cs typeface="Arial" pitchFamily="34" charset="-120"/>
              </a:rPr>
              <a:t>Handlers</a:t>
            </a:r>
            <a:endParaRPr lang="en-US" sz="1500" dirty="0"/>
          </a:p>
          <a:p>
            <a:pPr algn="ctr" indent="0" marL="0">
              <a:buNone/>
            </a:pPr>
            <a:r>
              <a:rPr lang="en-US" sz="1100" dirty="0">
                <a:solidFill>
                  <a:srgbClr val="1B2430"/>
                </a:solidFill>
                <a:latin typeface="Courier New" pitchFamily="34" charset="0"/>
                <a:ea typeface="Courier New" pitchFamily="34" charset="-122"/>
                <a:cs typeface="Courier New" pitchFamily="34" charset="-120"/>
              </a:rPr>
              <a:t>apps, windows, macros</a:t>
            </a:r>
            <a:endParaRPr lang="en-US" sz="1500" dirty="0"/>
          </a:p>
        </p:txBody>
      </p:sp>
      <p:sp>
        <p:nvSpPr>
          <p:cNvPr id="10" name="Shape 8"/>
          <p:cNvSpPr/>
          <p:nvPr/>
        </p:nvSpPr>
        <p:spPr>
          <a:xfrm>
            <a:off x="9290304" y="1988820"/>
            <a:ext cx="256032" cy="0"/>
          </a:xfrm>
          <a:prstGeom prst="line">
            <a:avLst/>
          </a:prstGeom>
          <a:noFill/>
          <a:ln w="22225">
            <a:solidFill>
              <a:srgbClr val="5B6675"/>
            </a:solidFill>
            <a:prstDash val="solid"/>
            <a:tailEnd type="triangle"/>
          </a:ln>
        </p:spPr>
      </p:sp>
      <p:sp>
        <p:nvSpPr>
          <p:cNvPr id="11" name="Text 9"/>
          <p:cNvSpPr/>
          <p:nvPr/>
        </p:nvSpPr>
        <p:spPr>
          <a:xfrm>
            <a:off x="9601200" y="1508760"/>
            <a:ext cx="1874520" cy="960120"/>
          </a:xfrm>
          <a:prstGeom prst="roundRect">
            <a:avLst>
              <a:gd name="adj" fmla="val 9524"/>
            </a:avLst>
          </a:prstGeom>
          <a:solidFill>
            <a:srgbClr val="E8A33D"/>
          </a:solidFill>
          <a:ln/>
        </p:spPr>
        <p:txBody>
          <a:bodyPr wrap="square" lIns="635" tIns="635" rIns="635" bIns="635" rtlCol="0" anchor="ctr"/>
          <a:lstStyle/>
          <a:p>
            <a:pPr algn="ctr" indent="0" marL="0">
              <a:buNone/>
            </a:pPr>
            <a:r>
              <a:rPr lang="en-US" sz="1500" b="1" dirty="0">
                <a:solidFill>
                  <a:srgbClr val="1B2430"/>
                </a:solidFill>
                <a:latin typeface="Arial" pitchFamily="34" charset="0"/>
                <a:ea typeface="Arial" pitchFamily="34" charset="-122"/>
                <a:cs typeface="Arial" pitchFamily="34" charset="-120"/>
              </a:rPr>
              <a:t>subprocess</a:t>
            </a:r>
            <a:endParaRPr lang="en-US" sz="1500" dirty="0"/>
          </a:p>
          <a:p>
            <a:pPr algn="ctr" indent="0" marL="0">
              <a:buNone/>
            </a:pPr>
            <a:r>
              <a:rPr lang="en-US" sz="1100" dirty="0">
                <a:solidFill>
                  <a:srgbClr val="1B2430"/>
                </a:solidFill>
                <a:latin typeface="Courier New" pitchFamily="34" charset="0"/>
                <a:ea typeface="Courier New" pitchFamily="34" charset="-122"/>
                <a:cs typeface="Courier New" pitchFamily="34" charset="-120"/>
              </a:rPr>
              <a:t>shell=True</a:t>
            </a:r>
            <a:endParaRPr lang="en-US" sz="1500" dirty="0"/>
          </a:p>
        </p:txBody>
      </p:sp>
      <p:sp>
        <p:nvSpPr>
          <p:cNvPr id="12" name="Shape 10"/>
          <p:cNvSpPr/>
          <p:nvPr/>
        </p:nvSpPr>
        <p:spPr>
          <a:xfrm>
            <a:off x="640080" y="3063240"/>
            <a:ext cx="3520440" cy="2926080"/>
          </a:xfrm>
          <a:prstGeom prst="roundRect">
            <a:avLst>
              <a:gd name="adj" fmla="val 3750"/>
            </a:avLst>
          </a:prstGeom>
          <a:solidFill>
            <a:srgbClr val="F2F4F7"/>
          </a:solidFill>
          <a:ln w="12700">
            <a:solidFill>
              <a:srgbClr val="F2F4F7"/>
            </a:solidFill>
            <a:prstDash val="solid"/>
          </a:ln>
        </p:spPr>
      </p:sp>
      <p:sp>
        <p:nvSpPr>
          <p:cNvPr id="13" name="Shape 11"/>
          <p:cNvSpPr/>
          <p:nvPr/>
        </p:nvSpPr>
        <p:spPr>
          <a:xfrm>
            <a:off x="960120" y="3383280"/>
            <a:ext cx="685800" cy="685800"/>
          </a:xfrm>
          <a:prstGeom prst="ellipse">
            <a:avLst/>
          </a:prstGeom>
          <a:solidFill>
            <a:srgbClr val="1B2430"/>
          </a:solidFill>
          <a:ln w="12700">
            <a:solidFill>
              <a:srgbClr val="1B2430"/>
            </a:solidFill>
            <a:prstDash val="solid"/>
          </a:ln>
        </p:spPr>
      </p:sp>
      <p:pic>
        <p:nvPicPr>
          <p:cNvPr id="14" name="Image 0" descr="preencoded.png">    </p:cNvPr>
          <p:cNvPicPr>
            <a:picLocks noChangeAspect="1"/>
          </p:cNvPicPr>
          <p:nvPr/>
        </p:nvPicPr>
        <p:blipFill>
          <a:blip r:embed="rId1"/>
          <a:stretch>
            <a:fillRect/>
          </a:stretch>
        </p:blipFill>
        <p:spPr>
          <a:xfrm>
            <a:off x="1145286" y="3568446"/>
            <a:ext cx="315468" cy="315468"/>
          </a:xfrm>
          <a:prstGeom prst="rect">
            <a:avLst/>
          </a:prstGeom>
        </p:spPr>
      </p:pic>
      <p:sp>
        <p:nvSpPr>
          <p:cNvPr id="15" name="Text 12"/>
          <p:cNvSpPr/>
          <p:nvPr/>
        </p:nvSpPr>
        <p:spPr>
          <a:xfrm>
            <a:off x="960120" y="4251960"/>
            <a:ext cx="2926080" cy="685800"/>
          </a:xfrm>
          <a:prstGeom prst="rect">
            <a:avLst/>
          </a:prstGeom>
          <a:noFill/>
          <a:ln/>
        </p:spPr>
        <p:txBody>
          <a:bodyPr wrap="square" lIns="0" tIns="0" rIns="0" bIns="0" rtlCol="0" anchor="t"/>
          <a:lstStyle/>
          <a:p>
            <a:pPr indent="0" marL="0">
              <a:buNone/>
            </a:pPr>
            <a:r>
              <a:rPr lang="en-US" sz="1700" b="1" dirty="0">
                <a:solidFill>
                  <a:srgbClr val="1B2430"/>
                </a:solidFill>
                <a:latin typeface="Arial" pitchFamily="34" charset="0"/>
                <a:ea typeface="Arial" pitchFamily="34" charset="-122"/>
                <a:cs typeface="Arial" pitchFamily="34" charset="-120"/>
              </a:rPr>
              <a:t>Anyone near the mic</a:t>
            </a:r>
            <a:endParaRPr lang="en-US" sz="1700" dirty="0"/>
          </a:p>
        </p:txBody>
      </p:sp>
      <p:sp>
        <p:nvSpPr>
          <p:cNvPr id="16" name="Text 13"/>
          <p:cNvSpPr/>
          <p:nvPr/>
        </p:nvSpPr>
        <p:spPr>
          <a:xfrm>
            <a:off x="960120" y="4937760"/>
            <a:ext cx="2926080" cy="960120"/>
          </a:xfrm>
          <a:prstGeom prst="rect">
            <a:avLst/>
          </a:prstGeom>
          <a:noFill/>
          <a:ln/>
        </p:spPr>
        <p:txBody>
          <a:bodyPr wrap="square" lIns="0" tIns="0" rIns="0" bIns="0" rtlCol="0" anchor="t"/>
          <a:lstStyle/>
          <a:p>
            <a:pPr indent="0" marL="0">
              <a:buNone/>
            </a:pPr>
            <a:r>
              <a:rPr lang="en-US" sz="1300" dirty="0">
                <a:solidFill>
                  <a:srgbClr val="5B6675"/>
                </a:solidFill>
                <a:latin typeface="Arial" pitchFamily="34" charset="0"/>
                <a:ea typeface="Arial" pitchFamily="34" charset="-122"/>
                <a:cs typeface="Arial" pitchFamily="34" charset="-120"/>
              </a:rPr>
              <a:t>Any voice can trigger a command, and a misheard phrase can still match a macro by substring (S-08).</a:t>
            </a:r>
            <a:endParaRPr lang="en-US" sz="1300" dirty="0"/>
          </a:p>
        </p:txBody>
      </p:sp>
      <p:sp>
        <p:nvSpPr>
          <p:cNvPr id="17" name="Shape 14"/>
          <p:cNvSpPr/>
          <p:nvPr/>
        </p:nvSpPr>
        <p:spPr>
          <a:xfrm>
            <a:off x="4389120" y="3063240"/>
            <a:ext cx="3520440" cy="2926080"/>
          </a:xfrm>
          <a:prstGeom prst="roundRect">
            <a:avLst>
              <a:gd name="adj" fmla="val 3750"/>
            </a:avLst>
          </a:prstGeom>
          <a:solidFill>
            <a:srgbClr val="F2F4F7"/>
          </a:solidFill>
          <a:ln w="12700">
            <a:solidFill>
              <a:srgbClr val="F2F4F7"/>
            </a:solidFill>
            <a:prstDash val="solid"/>
          </a:ln>
        </p:spPr>
      </p:sp>
      <p:sp>
        <p:nvSpPr>
          <p:cNvPr id="18" name="Shape 15"/>
          <p:cNvSpPr/>
          <p:nvPr/>
        </p:nvSpPr>
        <p:spPr>
          <a:xfrm>
            <a:off x="4709160" y="3383280"/>
            <a:ext cx="685800" cy="685800"/>
          </a:xfrm>
          <a:prstGeom prst="ellipse">
            <a:avLst/>
          </a:prstGeom>
          <a:solidFill>
            <a:srgbClr val="E8A33D"/>
          </a:solidFill>
          <a:ln w="12700">
            <a:solidFill>
              <a:srgbClr val="E8A33D"/>
            </a:solidFill>
            <a:prstDash val="solid"/>
          </a:ln>
        </p:spPr>
      </p:sp>
      <p:pic>
        <p:nvPicPr>
          <p:cNvPr id="19" name="Image 1" descr="preencoded.png">    </p:cNvPr>
          <p:cNvPicPr>
            <a:picLocks noChangeAspect="1"/>
          </p:cNvPicPr>
          <p:nvPr/>
        </p:nvPicPr>
        <p:blipFill>
          <a:blip r:embed="rId2"/>
          <a:stretch>
            <a:fillRect/>
          </a:stretch>
        </p:blipFill>
        <p:spPr>
          <a:xfrm>
            <a:off x="4894326" y="3568446"/>
            <a:ext cx="315468" cy="315468"/>
          </a:xfrm>
          <a:prstGeom prst="rect">
            <a:avLst/>
          </a:prstGeom>
        </p:spPr>
      </p:pic>
      <p:sp>
        <p:nvSpPr>
          <p:cNvPr id="20" name="Text 16"/>
          <p:cNvSpPr/>
          <p:nvPr/>
        </p:nvSpPr>
        <p:spPr>
          <a:xfrm>
            <a:off x="4709160" y="4251960"/>
            <a:ext cx="2926080" cy="685800"/>
          </a:xfrm>
          <a:prstGeom prst="rect">
            <a:avLst/>
          </a:prstGeom>
          <a:noFill/>
          <a:ln/>
        </p:spPr>
        <p:txBody>
          <a:bodyPr wrap="square" lIns="0" tIns="0" rIns="0" bIns="0" rtlCol="0" anchor="t"/>
          <a:lstStyle/>
          <a:p>
            <a:pPr indent="0" marL="0">
              <a:buNone/>
            </a:pPr>
            <a:r>
              <a:rPr lang="en-US" sz="1700" b="1" dirty="0">
                <a:solidFill>
                  <a:srgbClr val="1B2430"/>
                </a:solidFill>
                <a:latin typeface="Arial" pitchFamily="34" charset="0"/>
                <a:ea typeface="Arial" pitchFamily="34" charset="-122"/>
                <a:cs typeface="Arial" pitchFamily="34" charset="-120"/>
              </a:rPr>
              <a:t>Config and transcripts reach the shell</a:t>
            </a:r>
            <a:endParaRPr lang="en-US" sz="1700" dirty="0"/>
          </a:p>
        </p:txBody>
      </p:sp>
      <p:sp>
        <p:nvSpPr>
          <p:cNvPr id="21" name="Text 17"/>
          <p:cNvSpPr/>
          <p:nvPr/>
        </p:nvSpPr>
        <p:spPr>
          <a:xfrm>
            <a:off x="4709160" y="4937760"/>
            <a:ext cx="2926080" cy="960120"/>
          </a:xfrm>
          <a:prstGeom prst="rect">
            <a:avLst/>
          </a:prstGeom>
          <a:noFill/>
          <a:ln/>
        </p:spPr>
        <p:txBody>
          <a:bodyPr wrap="square" lIns="0" tIns="0" rIns="0" bIns="0" rtlCol="0" anchor="t"/>
          <a:lstStyle/>
          <a:p>
            <a:pPr indent="0" marL="0">
              <a:buNone/>
            </a:pPr>
            <a:r>
              <a:rPr lang="en-US" sz="1300" dirty="0">
                <a:solidFill>
                  <a:srgbClr val="5B6675"/>
                </a:solidFill>
                <a:latin typeface="Arial" pitchFamily="34" charset="0"/>
                <a:ea typeface="Arial" pitchFamily="34" charset="-122"/>
                <a:cs typeface="Arial" pitchFamily="34" charset="-120"/>
              </a:rPr>
              <a:t>Unescaped AppleScript and cmd strings: two critical injections, S-01 and S-02.</a:t>
            </a:r>
            <a:endParaRPr lang="en-US" sz="1300" dirty="0"/>
          </a:p>
        </p:txBody>
      </p:sp>
      <p:sp>
        <p:nvSpPr>
          <p:cNvPr id="22" name="Shape 18"/>
          <p:cNvSpPr/>
          <p:nvPr/>
        </p:nvSpPr>
        <p:spPr>
          <a:xfrm>
            <a:off x="8138160" y="3063240"/>
            <a:ext cx="3520440" cy="2926080"/>
          </a:xfrm>
          <a:prstGeom prst="roundRect">
            <a:avLst>
              <a:gd name="adj" fmla="val 3750"/>
            </a:avLst>
          </a:prstGeom>
          <a:solidFill>
            <a:srgbClr val="F2F4F7"/>
          </a:solidFill>
          <a:ln w="12700">
            <a:solidFill>
              <a:srgbClr val="F2F4F7"/>
            </a:solidFill>
            <a:prstDash val="solid"/>
          </a:ln>
        </p:spPr>
      </p:sp>
      <p:sp>
        <p:nvSpPr>
          <p:cNvPr id="23" name="Shape 19"/>
          <p:cNvSpPr/>
          <p:nvPr/>
        </p:nvSpPr>
        <p:spPr>
          <a:xfrm>
            <a:off x="8458200" y="3383280"/>
            <a:ext cx="685800" cy="685800"/>
          </a:xfrm>
          <a:prstGeom prst="ellipse">
            <a:avLst/>
          </a:prstGeom>
          <a:solidFill>
            <a:srgbClr val="1B2430"/>
          </a:solidFill>
          <a:ln w="12700">
            <a:solidFill>
              <a:srgbClr val="1B2430"/>
            </a:solidFill>
            <a:prstDash val="solid"/>
          </a:ln>
        </p:spPr>
      </p:sp>
      <p:pic>
        <p:nvPicPr>
          <p:cNvPr id="24" name="Image 2" descr="preencoded.png">    </p:cNvPr>
          <p:cNvPicPr>
            <a:picLocks noChangeAspect="1"/>
          </p:cNvPicPr>
          <p:nvPr/>
        </p:nvPicPr>
        <p:blipFill>
          <a:blip r:embed="rId3"/>
          <a:stretch>
            <a:fillRect/>
          </a:stretch>
        </p:blipFill>
        <p:spPr>
          <a:xfrm>
            <a:off x="8643366" y="3568446"/>
            <a:ext cx="315468" cy="315468"/>
          </a:xfrm>
          <a:prstGeom prst="rect">
            <a:avLst/>
          </a:prstGeom>
        </p:spPr>
      </p:pic>
      <p:sp>
        <p:nvSpPr>
          <p:cNvPr id="25" name="Text 20"/>
          <p:cNvSpPr/>
          <p:nvPr/>
        </p:nvSpPr>
        <p:spPr>
          <a:xfrm>
            <a:off x="8458200" y="4251960"/>
            <a:ext cx="2926080" cy="685800"/>
          </a:xfrm>
          <a:prstGeom prst="rect">
            <a:avLst/>
          </a:prstGeom>
          <a:noFill/>
          <a:ln/>
        </p:spPr>
        <p:txBody>
          <a:bodyPr wrap="square" lIns="0" tIns="0" rIns="0" bIns="0" rtlCol="0" anchor="t"/>
          <a:lstStyle/>
          <a:p>
            <a:pPr indent="0" marL="0">
              <a:buNone/>
            </a:pPr>
            <a:r>
              <a:rPr lang="en-US" sz="1700" b="1" dirty="0">
                <a:solidFill>
                  <a:srgbClr val="1B2430"/>
                </a:solidFill>
                <a:latin typeface="Arial" pitchFamily="34" charset="0"/>
                <a:ea typeface="Arial" pitchFamily="34" charset="-122"/>
                <a:cs typeface="Arial" pitchFamily="34" charset="-120"/>
              </a:rPr>
              <a:t>No safety net</a:t>
            </a:r>
            <a:endParaRPr lang="en-US" sz="1700" dirty="0"/>
          </a:p>
        </p:txBody>
      </p:sp>
      <p:sp>
        <p:nvSpPr>
          <p:cNvPr id="26" name="Text 21"/>
          <p:cNvSpPr/>
          <p:nvPr/>
        </p:nvSpPr>
        <p:spPr>
          <a:xfrm>
            <a:off x="8458200" y="4937760"/>
            <a:ext cx="2926080" cy="960120"/>
          </a:xfrm>
          <a:prstGeom prst="rect">
            <a:avLst/>
          </a:prstGeom>
          <a:noFill/>
          <a:ln/>
        </p:spPr>
        <p:txBody>
          <a:bodyPr wrap="square" lIns="0" tIns="0" rIns="0" bIns="0" rtlCol="0" anchor="t"/>
          <a:lstStyle/>
          <a:p>
            <a:pPr indent="0" marL="0">
              <a:buNone/>
            </a:pPr>
            <a:r>
              <a:rPr lang="en-US" sz="1300" dirty="0">
                <a:solidFill>
                  <a:srgbClr val="5B6675"/>
                </a:solidFill>
                <a:latin typeface="Arial" pitchFamily="34" charset="0"/>
                <a:ea typeface="Arial" pitchFamily="34" charset="-122"/>
                <a:cs typeface="Arial" pitchFamily="34" charset="-120"/>
              </a:rPr>
              <a:t>45 tests, one of which could never fail. One Ubuntu CI job. The README claims more OS support than the code has.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400" b="1" dirty="0">
                <a:solidFill>
                  <a:srgbClr val="1B2430"/>
                </a:solidFill>
                <a:latin typeface="Arial" pitchFamily="34" charset="0"/>
                <a:ea typeface="Arial" pitchFamily="34" charset="-122"/>
                <a:cs typeface="Arial" pitchFamily="34" charset="-120"/>
              </a:rPr>
              <a:t>A playbook for Bob, not a single prompt</a:t>
            </a:r>
            <a:endParaRPr lang="en-US" sz="3400" dirty="0"/>
          </a:p>
        </p:txBody>
      </p:sp>
      <p:pic>
        <p:nvPicPr>
          <p:cNvPr id="3" name="Image 0" descr="preencoded.png">    </p:cNvPr>
          <p:cNvPicPr>
            <a:picLocks noChangeAspect="1"/>
          </p:cNvPicPr>
          <p:nvPr/>
        </p:nvPicPr>
        <p:blipFill>
          <a:blip r:embed="rId1"/>
          <a:stretch>
            <a:fillRect/>
          </a:stretch>
        </p:blipFill>
        <p:spPr>
          <a:xfrm>
            <a:off x="10835640" y="292608"/>
            <a:ext cx="731520" cy="731520"/>
          </a:xfrm>
          <a:prstGeom prst="rect">
            <a:avLst/>
          </a:prstGeom>
        </p:spPr>
      </p:pic>
      <p:sp>
        <p:nvSpPr>
          <p:cNvPr id="4" name="Shape 1"/>
          <p:cNvSpPr/>
          <p:nvPr/>
        </p:nvSpPr>
        <p:spPr>
          <a:xfrm>
            <a:off x="640080" y="1371600"/>
            <a:ext cx="2606040" cy="3429000"/>
          </a:xfrm>
          <a:prstGeom prst="roundRect">
            <a:avLst>
              <a:gd name="adj" fmla="val 4211"/>
            </a:avLst>
          </a:prstGeom>
          <a:solidFill>
            <a:srgbClr val="F2F4F7"/>
          </a:solidFill>
          <a:ln w="12700">
            <a:solidFill>
              <a:srgbClr val="F2F4F7"/>
            </a:solidFill>
            <a:prstDash val="solid"/>
          </a:ln>
        </p:spPr>
      </p:sp>
      <p:sp>
        <p:nvSpPr>
          <p:cNvPr id="5" name="Shape 2"/>
          <p:cNvSpPr/>
          <p:nvPr/>
        </p:nvSpPr>
        <p:spPr>
          <a:xfrm>
            <a:off x="914400" y="1645920"/>
            <a:ext cx="640080" cy="640080"/>
          </a:xfrm>
          <a:prstGeom prst="ellipse">
            <a:avLst/>
          </a:prstGeom>
          <a:solidFill>
            <a:srgbClr val="1B2430"/>
          </a:solidFill>
          <a:ln w="12700">
            <a:solidFill>
              <a:srgbClr val="1B2430"/>
            </a:solidFill>
            <a:prstDash val="solid"/>
          </a:ln>
        </p:spPr>
      </p:sp>
      <p:pic>
        <p:nvPicPr>
          <p:cNvPr id="6" name="Image 1" descr="preencoded.png">    </p:cNvPr>
          <p:cNvPicPr>
            <a:picLocks noChangeAspect="1"/>
          </p:cNvPicPr>
          <p:nvPr/>
        </p:nvPicPr>
        <p:blipFill>
          <a:blip r:embed="rId2"/>
          <a:stretch>
            <a:fillRect/>
          </a:stretch>
        </p:blipFill>
        <p:spPr>
          <a:xfrm>
            <a:off x="1087222" y="1818742"/>
            <a:ext cx="294437" cy="294437"/>
          </a:xfrm>
          <a:prstGeom prst="rect">
            <a:avLst/>
          </a:prstGeom>
        </p:spPr>
      </p:pic>
      <p:sp>
        <p:nvSpPr>
          <p:cNvPr id="7" name="Text 3"/>
          <p:cNvSpPr/>
          <p:nvPr/>
        </p:nvSpPr>
        <p:spPr>
          <a:xfrm>
            <a:off x="1783080" y="1801368"/>
            <a:ext cx="1188720" cy="329184"/>
          </a:xfrm>
          <a:prstGeom prst="roundRect">
            <a:avLst>
              <a:gd name="adj" fmla="val 22222"/>
            </a:avLst>
          </a:prstGeom>
          <a:solidFill>
            <a:srgbClr val="FFFFFF"/>
          </a:solidFill>
          <a:ln/>
        </p:spPr>
        <p:txBody>
          <a:bodyPr wrap="square" lIns="0" tIns="0" rIns="0" bIns="0" rtlCol="0" anchor="ctr"/>
          <a:lstStyle/>
          <a:p>
            <a:pPr algn="ctr" indent="0" marL="0">
              <a:buNone/>
            </a:pPr>
            <a:r>
              <a:rPr lang="en-US" sz="1100" b="1" dirty="0">
                <a:solidFill>
                  <a:srgbClr val="1B2430"/>
                </a:solidFill>
                <a:latin typeface="Courier New" pitchFamily="34" charset="0"/>
                <a:ea typeface="Courier New" pitchFamily="34" charset="-122"/>
                <a:cs typeface="Courier New" pitchFamily="34" charset="-120"/>
              </a:rPr>
              <a:t>T1 · T9</a:t>
            </a:r>
            <a:endParaRPr lang="en-US" sz="1100" dirty="0"/>
          </a:p>
        </p:txBody>
      </p:sp>
      <p:sp>
        <p:nvSpPr>
          <p:cNvPr id="8" name="Text 4"/>
          <p:cNvSpPr/>
          <p:nvPr/>
        </p:nvSpPr>
        <p:spPr>
          <a:xfrm>
            <a:off x="914400" y="2423160"/>
            <a:ext cx="2103120" cy="411480"/>
          </a:xfrm>
          <a:prstGeom prst="rect">
            <a:avLst/>
          </a:prstGeom>
          <a:noFill/>
          <a:ln/>
        </p:spPr>
        <p:txBody>
          <a:bodyPr wrap="square" lIns="0" tIns="0" rIns="0" bIns="0" rtlCol="0" anchor="ctr"/>
          <a:lstStyle/>
          <a:p>
            <a:pPr indent="0" marL="0">
              <a:buNone/>
            </a:pPr>
            <a:r>
              <a:rPr lang="en-US" sz="1800" b="1" dirty="0">
                <a:solidFill>
                  <a:srgbClr val="1B2430"/>
                </a:solidFill>
                <a:latin typeface="Arial" pitchFamily="34" charset="0"/>
                <a:ea typeface="Arial" pitchFamily="34" charset="-122"/>
                <a:cs typeface="Arial" pitchFamily="34" charset="-120"/>
              </a:rPr>
              <a:t>SD Analyst</a:t>
            </a:r>
            <a:endParaRPr lang="en-US" sz="1800" dirty="0"/>
          </a:p>
        </p:txBody>
      </p:sp>
      <p:sp>
        <p:nvSpPr>
          <p:cNvPr id="9" name="Text 5"/>
          <p:cNvSpPr/>
          <p:nvPr/>
        </p:nvSpPr>
        <p:spPr>
          <a:xfrm>
            <a:off x="914400" y="2834640"/>
            <a:ext cx="2103120" cy="1097280"/>
          </a:xfrm>
          <a:prstGeom prst="rect">
            <a:avLst/>
          </a:prstGeom>
          <a:noFill/>
          <a:ln/>
        </p:spPr>
        <p:txBody>
          <a:bodyPr wrap="square" lIns="0" tIns="0" rIns="0" bIns="0" rtlCol="0" anchor="t"/>
          <a:lstStyle/>
          <a:p>
            <a:pPr indent="0" marL="0">
              <a:buNone/>
            </a:pPr>
            <a:r>
              <a:rPr lang="en-US" sz="1250" dirty="0">
                <a:solidFill>
                  <a:srgbClr val="5B6675"/>
                </a:solidFill>
                <a:latin typeface="Arial" pitchFamily="34" charset="0"/>
                <a:ea typeface="Arial" pitchFamily="34" charset="-122"/>
                <a:cs typeface="Arial" pitchFamily="34" charset="-120"/>
              </a:rPr>
              <a:t>Documents the code: architecture, command catalog, OS matrix, after-report.</a:t>
            </a:r>
            <a:endParaRPr lang="en-US" sz="1250" dirty="0"/>
          </a:p>
        </p:txBody>
      </p:sp>
      <p:sp>
        <p:nvSpPr>
          <p:cNvPr id="10" name="Text 6"/>
          <p:cNvSpPr/>
          <p:nvPr/>
        </p:nvSpPr>
        <p:spPr>
          <a:xfrm>
            <a:off x="914400" y="3977640"/>
            <a:ext cx="2194560" cy="731520"/>
          </a:xfrm>
          <a:prstGeom prst="rect">
            <a:avLst/>
          </a:prstGeom>
          <a:noFill/>
          <a:ln/>
        </p:spPr>
        <p:txBody>
          <a:bodyPr wrap="square" lIns="0" tIns="0" rIns="0" bIns="0" rtlCol="0" anchor="t"/>
          <a:lstStyle/>
          <a:p>
            <a:pPr indent="0" marL="0">
              <a:buNone/>
            </a:pPr>
            <a:r>
              <a:rPr lang="en-US" sz="900" dirty="0">
                <a:solidFill>
                  <a:srgbClr val="5B6675"/>
                </a:solidFill>
                <a:latin typeface="Arial" pitchFamily="34" charset="0"/>
                <a:ea typeface="Arial" pitchFamily="34" charset="-122"/>
                <a:cs typeface="Arial" pitchFamily="34" charset="-120"/>
              </a:rPr>
              <a:t>edits only</a:t>
            </a:r>
            <a:endParaRPr lang="en-US" sz="900" dirty="0"/>
          </a:p>
          <a:p>
            <a:pPr indent="0" marL="0">
              <a:buNone/>
            </a:pPr>
            <a:r>
              <a:rPr lang="en-US" sz="950" dirty="0">
                <a:solidFill>
                  <a:srgbClr val="1B2430"/>
                </a:solidFill>
                <a:latin typeface="Courier New" pitchFamily="34" charset="0"/>
                <a:ea typeface="Courier New" pitchFamily="34" charset="-122"/>
                <a:cs typeface="Courier New" pitchFamily="34" charset="-120"/>
              </a:rPr>
              <a:t>docs/baseline/overview.md</a:t>
            </a:r>
            <a:endParaRPr lang="en-US" sz="900" dirty="0"/>
          </a:p>
          <a:p>
            <a:pPr indent="0" marL="0">
              <a:buNone/>
            </a:pPr>
            <a:r>
              <a:rPr lang="en-US" sz="950" dirty="0">
                <a:solidFill>
                  <a:srgbClr val="1B2430"/>
                </a:solidFill>
                <a:latin typeface="Courier New" pitchFamily="34" charset="0"/>
                <a:ea typeface="Courier New" pitchFamily="34" charset="-122"/>
                <a:cs typeface="Courier New" pitchFamily="34" charset="-120"/>
              </a:rPr>
              <a:t>docs/after/, README.md</a:t>
            </a:r>
            <a:endParaRPr lang="en-US" sz="900" dirty="0"/>
          </a:p>
        </p:txBody>
      </p:sp>
      <p:sp>
        <p:nvSpPr>
          <p:cNvPr id="11" name="Shape 7"/>
          <p:cNvSpPr/>
          <p:nvPr/>
        </p:nvSpPr>
        <p:spPr>
          <a:xfrm>
            <a:off x="3429000" y="1371600"/>
            <a:ext cx="2606040" cy="3429000"/>
          </a:xfrm>
          <a:prstGeom prst="roundRect">
            <a:avLst>
              <a:gd name="adj" fmla="val 4211"/>
            </a:avLst>
          </a:prstGeom>
          <a:solidFill>
            <a:srgbClr val="F2F4F7"/>
          </a:solidFill>
          <a:ln w="12700">
            <a:solidFill>
              <a:srgbClr val="F2F4F7"/>
            </a:solidFill>
            <a:prstDash val="solid"/>
          </a:ln>
        </p:spPr>
      </p:sp>
      <p:sp>
        <p:nvSpPr>
          <p:cNvPr id="12" name="Shape 8"/>
          <p:cNvSpPr/>
          <p:nvPr/>
        </p:nvSpPr>
        <p:spPr>
          <a:xfrm>
            <a:off x="3703320" y="1645920"/>
            <a:ext cx="640080" cy="640080"/>
          </a:xfrm>
          <a:prstGeom prst="ellipse">
            <a:avLst/>
          </a:prstGeom>
          <a:solidFill>
            <a:srgbClr val="E8A33D"/>
          </a:solidFill>
          <a:ln w="12700">
            <a:solidFill>
              <a:srgbClr val="E8A33D"/>
            </a:solidFill>
            <a:prstDash val="solid"/>
          </a:ln>
        </p:spPr>
      </p:sp>
      <p:pic>
        <p:nvPicPr>
          <p:cNvPr id="13" name="Image 2" descr="preencoded.png">    </p:cNvPr>
          <p:cNvPicPr>
            <a:picLocks noChangeAspect="1"/>
          </p:cNvPicPr>
          <p:nvPr/>
        </p:nvPicPr>
        <p:blipFill>
          <a:blip r:embed="rId3"/>
          <a:stretch>
            <a:fillRect/>
          </a:stretch>
        </p:blipFill>
        <p:spPr>
          <a:xfrm>
            <a:off x="3876142" y="1818742"/>
            <a:ext cx="294437" cy="294437"/>
          </a:xfrm>
          <a:prstGeom prst="rect">
            <a:avLst/>
          </a:prstGeom>
        </p:spPr>
      </p:pic>
      <p:sp>
        <p:nvSpPr>
          <p:cNvPr id="14" name="Text 9"/>
          <p:cNvSpPr/>
          <p:nvPr/>
        </p:nvSpPr>
        <p:spPr>
          <a:xfrm>
            <a:off x="4572000" y="1801368"/>
            <a:ext cx="1188720" cy="329184"/>
          </a:xfrm>
          <a:prstGeom prst="roundRect">
            <a:avLst>
              <a:gd name="adj" fmla="val 22222"/>
            </a:avLst>
          </a:prstGeom>
          <a:solidFill>
            <a:srgbClr val="FFFFFF"/>
          </a:solidFill>
          <a:ln/>
        </p:spPr>
        <p:txBody>
          <a:bodyPr wrap="square" lIns="0" tIns="0" rIns="0" bIns="0" rtlCol="0" anchor="ctr"/>
          <a:lstStyle/>
          <a:p>
            <a:pPr algn="ctr" indent="0" marL="0">
              <a:buNone/>
            </a:pPr>
            <a:r>
              <a:rPr lang="en-US" sz="1100" b="1" dirty="0">
                <a:solidFill>
                  <a:srgbClr val="1B2430"/>
                </a:solidFill>
                <a:latin typeface="Courier New" pitchFamily="34" charset="0"/>
                <a:ea typeface="Courier New" pitchFamily="34" charset="-122"/>
                <a:cs typeface="Courier New" pitchFamily="34" charset="-120"/>
              </a:rPr>
              <a:t>T2</a:t>
            </a:r>
            <a:endParaRPr lang="en-US" sz="1100" dirty="0"/>
          </a:p>
        </p:txBody>
      </p:sp>
      <p:sp>
        <p:nvSpPr>
          <p:cNvPr id="15" name="Text 10"/>
          <p:cNvSpPr/>
          <p:nvPr/>
        </p:nvSpPr>
        <p:spPr>
          <a:xfrm>
            <a:off x="3703320" y="2423160"/>
            <a:ext cx="2103120" cy="411480"/>
          </a:xfrm>
          <a:prstGeom prst="rect">
            <a:avLst/>
          </a:prstGeom>
          <a:noFill/>
          <a:ln/>
        </p:spPr>
        <p:txBody>
          <a:bodyPr wrap="square" lIns="0" tIns="0" rIns="0" bIns="0" rtlCol="0" anchor="ctr"/>
          <a:lstStyle/>
          <a:p>
            <a:pPr indent="0" marL="0">
              <a:buNone/>
            </a:pPr>
            <a:r>
              <a:rPr lang="en-US" sz="1800" b="1" dirty="0">
                <a:solidFill>
                  <a:srgbClr val="1B2430"/>
                </a:solidFill>
                <a:latin typeface="Arial" pitchFamily="34" charset="0"/>
                <a:ea typeface="Arial" pitchFamily="34" charset="-122"/>
                <a:cs typeface="Arial" pitchFamily="34" charset="-120"/>
              </a:rPr>
              <a:t>SD Auditor</a:t>
            </a:r>
            <a:endParaRPr lang="en-US" sz="1800" dirty="0"/>
          </a:p>
        </p:txBody>
      </p:sp>
      <p:sp>
        <p:nvSpPr>
          <p:cNvPr id="16" name="Text 11"/>
          <p:cNvSpPr/>
          <p:nvPr/>
        </p:nvSpPr>
        <p:spPr>
          <a:xfrm>
            <a:off x="3703320" y="2834640"/>
            <a:ext cx="2103120" cy="1097280"/>
          </a:xfrm>
          <a:prstGeom prst="rect">
            <a:avLst/>
          </a:prstGeom>
          <a:noFill/>
          <a:ln/>
        </p:spPr>
        <p:txBody>
          <a:bodyPr wrap="square" lIns="0" tIns="0" rIns="0" bIns="0" rtlCol="0" anchor="t"/>
          <a:lstStyle/>
          <a:p>
            <a:pPr indent="0" marL="0">
              <a:buNone/>
            </a:pPr>
            <a:r>
              <a:rPr lang="en-US" sz="1250" dirty="0">
                <a:solidFill>
                  <a:srgbClr val="5B6675"/>
                </a:solidFill>
                <a:latin typeface="Arial" pitchFamily="34" charset="0"/>
                <a:ea typeface="Arial" pitchFamily="34" charset="-122"/>
                <a:cs typeface="Arial" pitchFamily="34" charset="-120"/>
              </a:rPr>
              <a:t>Audits injection, unsafe defaults and logging; runs bandit and pip-audit.</a:t>
            </a:r>
            <a:endParaRPr lang="en-US" sz="1250" dirty="0"/>
          </a:p>
        </p:txBody>
      </p:sp>
      <p:sp>
        <p:nvSpPr>
          <p:cNvPr id="17" name="Text 12"/>
          <p:cNvSpPr/>
          <p:nvPr/>
        </p:nvSpPr>
        <p:spPr>
          <a:xfrm>
            <a:off x="3703320" y="3977640"/>
            <a:ext cx="2194560" cy="731520"/>
          </a:xfrm>
          <a:prstGeom prst="rect">
            <a:avLst/>
          </a:prstGeom>
          <a:noFill/>
          <a:ln/>
        </p:spPr>
        <p:txBody>
          <a:bodyPr wrap="square" lIns="0" tIns="0" rIns="0" bIns="0" rtlCol="0" anchor="t"/>
          <a:lstStyle/>
          <a:p>
            <a:pPr indent="0" marL="0">
              <a:buNone/>
            </a:pPr>
            <a:r>
              <a:rPr lang="en-US" sz="900" dirty="0">
                <a:solidFill>
                  <a:srgbClr val="5B6675"/>
                </a:solidFill>
                <a:latin typeface="Arial" pitchFamily="34" charset="0"/>
                <a:ea typeface="Arial" pitchFamily="34" charset="-122"/>
                <a:cs typeface="Arial" pitchFamily="34" charset="-120"/>
              </a:rPr>
              <a:t>edits only</a:t>
            </a:r>
            <a:endParaRPr lang="en-US" sz="900" dirty="0"/>
          </a:p>
          <a:p>
            <a:pPr indent="0" marL="0">
              <a:buNone/>
            </a:pPr>
            <a:r>
              <a:rPr lang="en-US" sz="950" dirty="0">
                <a:solidFill>
                  <a:srgbClr val="1B2430"/>
                </a:solidFill>
                <a:latin typeface="Courier New" pitchFamily="34" charset="0"/>
                <a:ea typeface="Courier New" pitchFamily="34" charset="-122"/>
                <a:cs typeface="Courier New" pitchFamily="34" charset="-120"/>
              </a:rPr>
              <a:t>docs/baseline/</a:t>
            </a:r>
            <a:endParaRPr lang="en-US" sz="900" dirty="0"/>
          </a:p>
          <a:p>
            <a:pPr indent="0" marL="0">
              <a:buNone/>
            </a:pPr>
            <a:r>
              <a:rPr lang="en-US" sz="950" dirty="0">
                <a:solidFill>
                  <a:srgbClr val="1B2430"/>
                </a:solidFill>
                <a:latin typeface="Courier New" pitchFamily="34" charset="0"/>
                <a:ea typeface="Courier New" pitchFamily="34" charset="-122"/>
                <a:cs typeface="Courier New" pitchFamily="34" charset="-120"/>
              </a:rPr>
              <a:t>security-audit.md</a:t>
            </a:r>
            <a:endParaRPr lang="en-US" sz="900" dirty="0"/>
          </a:p>
        </p:txBody>
      </p:sp>
      <p:sp>
        <p:nvSpPr>
          <p:cNvPr id="18" name="Shape 13"/>
          <p:cNvSpPr/>
          <p:nvPr/>
        </p:nvSpPr>
        <p:spPr>
          <a:xfrm>
            <a:off x="6217920" y="1371600"/>
            <a:ext cx="2606040" cy="3429000"/>
          </a:xfrm>
          <a:prstGeom prst="roundRect">
            <a:avLst>
              <a:gd name="adj" fmla="val 4211"/>
            </a:avLst>
          </a:prstGeom>
          <a:solidFill>
            <a:srgbClr val="F2F4F7"/>
          </a:solidFill>
          <a:ln w="12700">
            <a:solidFill>
              <a:srgbClr val="F2F4F7"/>
            </a:solidFill>
            <a:prstDash val="solid"/>
          </a:ln>
        </p:spPr>
      </p:sp>
      <p:sp>
        <p:nvSpPr>
          <p:cNvPr id="19" name="Shape 14"/>
          <p:cNvSpPr/>
          <p:nvPr/>
        </p:nvSpPr>
        <p:spPr>
          <a:xfrm>
            <a:off x="6492240" y="1645920"/>
            <a:ext cx="640080" cy="640080"/>
          </a:xfrm>
          <a:prstGeom prst="ellipse">
            <a:avLst/>
          </a:prstGeom>
          <a:solidFill>
            <a:srgbClr val="0F62FE"/>
          </a:solidFill>
          <a:ln w="12700">
            <a:solidFill>
              <a:srgbClr val="0F62FE"/>
            </a:solidFill>
            <a:prstDash val="solid"/>
          </a:ln>
        </p:spPr>
      </p:sp>
      <p:pic>
        <p:nvPicPr>
          <p:cNvPr id="20" name="Image 3" descr="preencoded.png">    </p:cNvPr>
          <p:cNvPicPr>
            <a:picLocks noChangeAspect="1"/>
          </p:cNvPicPr>
          <p:nvPr/>
        </p:nvPicPr>
        <p:blipFill>
          <a:blip r:embed="rId4"/>
          <a:stretch>
            <a:fillRect/>
          </a:stretch>
        </p:blipFill>
        <p:spPr>
          <a:xfrm>
            <a:off x="6665062" y="1818742"/>
            <a:ext cx="294437" cy="294437"/>
          </a:xfrm>
          <a:prstGeom prst="rect">
            <a:avLst/>
          </a:prstGeom>
        </p:spPr>
      </p:pic>
      <p:sp>
        <p:nvSpPr>
          <p:cNvPr id="21" name="Text 15"/>
          <p:cNvSpPr/>
          <p:nvPr/>
        </p:nvSpPr>
        <p:spPr>
          <a:xfrm>
            <a:off x="7360920" y="1801368"/>
            <a:ext cx="1188720" cy="329184"/>
          </a:xfrm>
          <a:prstGeom prst="roundRect">
            <a:avLst>
              <a:gd name="adj" fmla="val 22222"/>
            </a:avLst>
          </a:prstGeom>
          <a:solidFill>
            <a:srgbClr val="FFFFFF"/>
          </a:solidFill>
          <a:ln/>
        </p:spPr>
        <p:txBody>
          <a:bodyPr wrap="square" lIns="0" tIns="0" rIns="0" bIns="0" rtlCol="0" anchor="ctr"/>
          <a:lstStyle/>
          <a:p>
            <a:pPr algn="ctr" indent="0" marL="0">
              <a:buNone/>
            </a:pPr>
            <a:r>
              <a:rPr lang="en-US" sz="1100" b="1" dirty="0">
                <a:solidFill>
                  <a:srgbClr val="1B2430"/>
                </a:solidFill>
                <a:latin typeface="Courier New" pitchFamily="34" charset="0"/>
                <a:ea typeface="Courier New" pitchFamily="34" charset="-122"/>
                <a:cs typeface="Courier New" pitchFamily="34" charset="-120"/>
              </a:rPr>
              <a:t>T3 · T8</a:t>
            </a:r>
            <a:endParaRPr lang="en-US" sz="1100" dirty="0"/>
          </a:p>
        </p:txBody>
      </p:sp>
      <p:sp>
        <p:nvSpPr>
          <p:cNvPr id="22" name="Text 16"/>
          <p:cNvSpPr/>
          <p:nvPr/>
        </p:nvSpPr>
        <p:spPr>
          <a:xfrm>
            <a:off x="6492240" y="2423160"/>
            <a:ext cx="2103120" cy="411480"/>
          </a:xfrm>
          <a:prstGeom prst="rect">
            <a:avLst/>
          </a:prstGeom>
          <a:noFill/>
          <a:ln/>
        </p:spPr>
        <p:txBody>
          <a:bodyPr wrap="square" lIns="0" tIns="0" rIns="0" bIns="0" rtlCol="0" anchor="ctr"/>
          <a:lstStyle/>
          <a:p>
            <a:pPr indent="0" marL="0">
              <a:buNone/>
            </a:pPr>
            <a:r>
              <a:rPr lang="en-US" sz="1800" b="1" dirty="0">
                <a:solidFill>
                  <a:srgbClr val="1B2430"/>
                </a:solidFill>
                <a:latin typeface="Arial" pitchFamily="34" charset="0"/>
                <a:ea typeface="Arial" pitchFamily="34" charset="-122"/>
                <a:cs typeface="Arial" pitchFamily="34" charset="-120"/>
              </a:rPr>
              <a:t>SD Tester</a:t>
            </a:r>
            <a:endParaRPr lang="en-US" sz="1800" dirty="0"/>
          </a:p>
        </p:txBody>
      </p:sp>
      <p:sp>
        <p:nvSpPr>
          <p:cNvPr id="23" name="Text 17"/>
          <p:cNvSpPr/>
          <p:nvPr/>
        </p:nvSpPr>
        <p:spPr>
          <a:xfrm>
            <a:off x="6492240" y="2834640"/>
            <a:ext cx="2103120" cy="1097280"/>
          </a:xfrm>
          <a:prstGeom prst="rect">
            <a:avLst/>
          </a:prstGeom>
          <a:noFill/>
          <a:ln/>
        </p:spPr>
        <p:txBody>
          <a:bodyPr wrap="square" lIns="0" tIns="0" rIns="0" bIns="0" rtlCol="0" anchor="t"/>
          <a:lstStyle/>
          <a:p>
            <a:pPr indent="0" marL="0">
              <a:buNone/>
            </a:pPr>
            <a:r>
              <a:rPr lang="en-US" sz="1250" dirty="0">
                <a:solidFill>
                  <a:srgbClr val="5B6675"/>
                </a:solidFill>
                <a:latin typeface="Arial" pitchFamily="34" charset="0"/>
                <a:ea typeface="Arial" pitchFamily="34" charset="-122"/>
                <a:cs typeface="Arial" pitchFamily="34" charset="-120"/>
              </a:rPr>
              <a:t>Proves each bug with a failing xfail(strict) test, then builds the CI matrix.</a:t>
            </a:r>
            <a:endParaRPr lang="en-US" sz="1250" dirty="0"/>
          </a:p>
        </p:txBody>
      </p:sp>
      <p:sp>
        <p:nvSpPr>
          <p:cNvPr id="24" name="Text 18"/>
          <p:cNvSpPr/>
          <p:nvPr/>
        </p:nvSpPr>
        <p:spPr>
          <a:xfrm>
            <a:off x="6492240" y="3977640"/>
            <a:ext cx="2194560" cy="731520"/>
          </a:xfrm>
          <a:prstGeom prst="rect">
            <a:avLst/>
          </a:prstGeom>
          <a:noFill/>
          <a:ln/>
        </p:spPr>
        <p:txBody>
          <a:bodyPr wrap="square" lIns="0" tIns="0" rIns="0" bIns="0" rtlCol="0" anchor="t"/>
          <a:lstStyle/>
          <a:p>
            <a:pPr indent="0" marL="0">
              <a:buNone/>
            </a:pPr>
            <a:r>
              <a:rPr lang="en-US" sz="900" dirty="0">
                <a:solidFill>
                  <a:srgbClr val="5B6675"/>
                </a:solidFill>
                <a:latin typeface="Arial" pitchFamily="34" charset="0"/>
                <a:ea typeface="Arial" pitchFamily="34" charset="-122"/>
                <a:cs typeface="Arial" pitchFamily="34" charset="-120"/>
              </a:rPr>
              <a:t>edits only</a:t>
            </a:r>
            <a:endParaRPr lang="en-US" sz="900" dirty="0"/>
          </a:p>
          <a:p>
            <a:pPr indent="0" marL="0">
              <a:buNone/>
            </a:pPr>
            <a:r>
              <a:rPr lang="en-US" sz="950" dirty="0">
                <a:solidFill>
                  <a:srgbClr val="1B2430"/>
                </a:solidFill>
                <a:latin typeface="Courier New" pitchFamily="34" charset="0"/>
                <a:ea typeface="Courier New" pitchFamily="34" charset="-122"/>
                <a:cs typeface="Courier New" pitchFamily="34" charset="-120"/>
              </a:rPr>
              <a:t>tests/**</a:t>
            </a:r>
            <a:endParaRPr lang="en-US" sz="900" dirty="0"/>
          </a:p>
          <a:p>
            <a:pPr indent="0" marL="0">
              <a:buNone/>
            </a:pPr>
            <a:r>
              <a:rPr lang="en-US" sz="950" dirty="0">
                <a:solidFill>
                  <a:srgbClr val="1B2430"/>
                </a:solidFill>
                <a:latin typeface="Courier New" pitchFamily="34" charset="0"/>
                <a:ea typeface="Courier New" pitchFamily="34" charset="-122"/>
                <a:cs typeface="Courier New" pitchFamily="34" charset="-120"/>
              </a:rPr>
              <a:t>.github/workflows/ci.yml</a:t>
            </a:r>
            <a:endParaRPr lang="en-US" sz="900" dirty="0"/>
          </a:p>
        </p:txBody>
      </p:sp>
      <p:sp>
        <p:nvSpPr>
          <p:cNvPr id="25" name="Shape 19"/>
          <p:cNvSpPr/>
          <p:nvPr/>
        </p:nvSpPr>
        <p:spPr>
          <a:xfrm>
            <a:off x="9006840" y="1371600"/>
            <a:ext cx="2606040" cy="3429000"/>
          </a:xfrm>
          <a:prstGeom prst="roundRect">
            <a:avLst>
              <a:gd name="adj" fmla="val 4211"/>
            </a:avLst>
          </a:prstGeom>
          <a:solidFill>
            <a:srgbClr val="F2F4F7"/>
          </a:solidFill>
          <a:ln w="12700">
            <a:solidFill>
              <a:srgbClr val="F2F4F7"/>
            </a:solidFill>
            <a:prstDash val="solid"/>
          </a:ln>
        </p:spPr>
      </p:sp>
      <p:sp>
        <p:nvSpPr>
          <p:cNvPr id="26" name="Shape 20"/>
          <p:cNvSpPr/>
          <p:nvPr/>
        </p:nvSpPr>
        <p:spPr>
          <a:xfrm>
            <a:off x="9281160" y="1645920"/>
            <a:ext cx="640080" cy="640080"/>
          </a:xfrm>
          <a:prstGeom prst="ellipse">
            <a:avLst/>
          </a:prstGeom>
          <a:solidFill>
            <a:srgbClr val="A56EFF"/>
          </a:solidFill>
          <a:ln w="12700">
            <a:solidFill>
              <a:srgbClr val="A56EFF"/>
            </a:solidFill>
            <a:prstDash val="solid"/>
          </a:ln>
        </p:spPr>
      </p:sp>
      <p:pic>
        <p:nvPicPr>
          <p:cNvPr id="27" name="Image 4" descr="preencoded.png">    </p:cNvPr>
          <p:cNvPicPr>
            <a:picLocks noChangeAspect="1"/>
          </p:cNvPicPr>
          <p:nvPr/>
        </p:nvPicPr>
        <p:blipFill>
          <a:blip r:embed="rId5"/>
          <a:stretch>
            <a:fillRect/>
          </a:stretch>
        </p:blipFill>
        <p:spPr>
          <a:xfrm>
            <a:off x="9453982" y="1818742"/>
            <a:ext cx="294437" cy="294437"/>
          </a:xfrm>
          <a:prstGeom prst="rect">
            <a:avLst/>
          </a:prstGeom>
        </p:spPr>
      </p:pic>
      <p:sp>
        <p:nvSpPr>
          <p:cNvPr id="28" name="Text 21"/>
          <p:cNvSpPr/>
          <p:nvPr/>
        </p:nvSpPr>
        <p:spPr>
          <a:xfrm>
            <a:off x="10149840" y="1801368"/>
            <a:ext cx="1188720" cy="329184"/>
          </a:xfrm>
          <a:prstGeom prst="roundRect">
            <a:avLst>
              <a:gd name="adj" fmla="val 22222"/>
            </a:avLst>
          </a:prstGeom>
          <a:solidFill>
            <a:srgbClr val="FFFFFF"/>
          </a:solidFill>
          <a:ln/>
        </p:spPr>
        <p:txBody>
          <a:bodyPr wrap="square" lIns="0" tIns="0" rIns="0" bIns="0" rtlCol="0" anchor="ctr"/>
          <a:lstStyle/>
          <a:p>
            <a:pPr algn="ctr" indent="0" marL="0">
              <a:buNone/>
            </a:pPr>
            <a:r>
              <a:rPr lang="en-US" sz="1100" b="1" dirty="0">
                <a:solidFill>
                  <a:srgbClr val="1B2430"/>
                </a:solidFill>
                <a:latin typeface="Courier New" pitchFamily="34" charset="0"/>
                <a:ea typeface="Courier New" pitchFamily="34" charset="-122"/>
                <a:cs typeface="Courier New" pitchFamily="34" charset="-120"/>
              </a:rPr>
              <a:t>T4 – T7</a:t>
            </a:r>
            <a:endParaRPr lang="en-US" sz="1100" dirty="0"/>
          </a:p>
        </p:txBody>
      </p:sp>
      <p:sp>
        <p:nvSpPr>
          <p:cNvPr id="29" name="Text 22"/>
          <p:cNvSpPr/>
          <p:nvPr/>
        </p:nvSpPr>
        <p:spPr>
          <a:xfrm>
            <a:off x="9281160" y="2423160"/>
            <a:ext cx="2103120" cy="411480"/>
          </a:xfrm>
          <a:prstGeom prst="rect">
            <a:avLst/>
          </a:prstGeom>
          <a:noFill/>
          <a:ln/>
        </p:spPr>
        <p:txBody>
          <a:bodyPr wrap="square" lIns="0" tIns="0" rIns="0" bIns="0" rtlCol="0" anchor="ctr"/>
          <a:lstStyle/>
          <a:p>
            <a:pPr indent="0" marL="0">
              <a:buNone/>
            </a:pPr>
            <a:r>
              <a:rPr lang="en-US" sz="1800" b="1" dirty="0">
                <a:solidFill>
                  <a:srgbClr val="1B2430"/>
                </a:solidFill>
                <a:latin typeface="Arial" pitchFamily="34" charset="0"/>
                <a:ea typeface="Arial" pitchFamily="34" charset="-122"/>
                <a:cs typeface="Arial" pitchFamily="34" charset="-120"/>
              </a:rPr>
              <a:t>SD Developer</a:t>
            </a:r>
            <a:endParaRPr lang="en-US" sz="1800" dirty="0"/>
          </a:p>
        </p:txBody>
      </p:sp>
      <p:sp>
        <p:nvSpPr>
          <p:cNvPr id="30" name="Text 23"/>
          <p:cNvSpPr/>
          <p:nvPr/>
        </p:nvSpPr>
        <p:spPr>
          <a:xfrm>
            <a:off x="9281160" y="2834640"/>
            <a:ext cx="2103120" cy="1097280"/>
          </a:xfrm>
          <a:prstGeom prst="rect">
            <a:avLst/>
          </a:prstGeom>
          <a:noFill/>
          <a:ln/>
        </p:spPr>
        <p:txBody>
          <a:bodyPr wrap="square" lIns="0" tIns="0" rIns="0" bIns="0" rtlCol="0" anchor="t"/>
          <a:lstStyle/>
          <a:p>
            <a:pPr indent="0" marL="0">
              <a:buNone/>
            </a:pPr>
            <a:r>
              <a:rPr lang="en-US" sz="1250" dirty="0">
                <a:solidFill>
                  <a:srgbClr val="5B6675"/>
                </a:solidFill>
                <a:latin typeface="Arial" pitchFamily="34" charset="0"/>
                <a:ea typeface="Arial" pitchFamily="34" charset="-122"/>
                <a:cs typeface="Arial" pitchFamily="34" charset="-120"/>
              </a:rPr>
              <a:t>Fixes the bugs; builds dry-run, text mode, playground and the safety layer.</a:t>
            </a:r>
            <a:endParaRPr lang="en-US" sz="1250" dirty="0"/>
          </a:p>
        </p:txBody>
      </p:sp>
      <p:sp>
        <p:nvSpPr>
          <p:cNvPr id="31" name="Text 24"/>
          <p:cNvSpPr/>
          <p:nvPr/>
        </p:nvSpPr>
        <p:spPr>
          <a:xfrm>
            <a:off x="9281160" y="3977640"/>
            <a:ext cx="2194560" cy="731520"/>
          </a:xfrm>
          <a:prstGeom prst="rect">
            <a:avLst/>
          </a:prstGeom>
          <a:noFill/>
          <a:ln/>
        </p:spPr>
        <p:txBody>
          <a:bodyPr wrap="square" lIns="0" tIns="0" rIns="0" bIns="0" rtlCol="0" anchor="t"/>
          <a:lstStyle/>
          <a:p>
            <a:pPr indent="0" marL="0">
              <a:buNone/>
            </a:pPr>
            <a:r>
              <a:rPr lang="en-US" sz="900" dirty="0">
                <a:solidFill>
                  <a:srgbClr val="5B6675"/>
                </a:solidFill>
                <a:latin typeface="Arial" pitchFamily="34" charset="0"/>
                <a:ea typeface="Arial" pitchFamily="34" charset="-122"/>
                <a:cs typeface="Arial" pitchFamily="34" charset="-120"/>
              </a:rPr>
              <a:t>edits only</a:t>
            </a:r>
            <a:endParaRPr lang="en-US" sz="900" dirty="0"/>
          </a:p>
          <a:p>
            <a:pPr indent="0" marL="0">
              <a:buNone/>
            </a:pPr>
            <a:r>
              <a:rPr lang="en-US" sz="950" dirty="0">
                <a:solidFill>
                  <a:srgbClr val="1B2430"/>
                </a:solidFill>
                <a:latin typeface="Courier New" pitchFamily="34" charset="0"/>
                <a:ea typeface="Courier New" pitchFamily="34" charset="-122"/>
                <a:cs typeface="Courier New" pitchFamily="34" charset="-120"/>
              </a:rPr>
              <a:t>voice-assistant/**</a:t>
            </a:r>
            <a:endParaRPr lang="en-US" sz="900" dirty="0"/>
          </a:p>
          <a:p>
            <a:pPr indent="0" marL="0">
              <a:buNone/>
            </a:pPr>
            <a:r>
              <a:rPr lang="en-US" sz="950" dirty="0">
                <a:solidFill>
                  <a:srgbClr val="1B2430"/>
                </a:solidFill>
                <a:latin typeface="Courier New" pitchFamily="34" charset="0"/>
                <a:ea typeface="Courier New" pitchFamily="34" charset="-122"/>
                <a:cs typeface="Courier New" pitchFamily="34" charset="-120"/>
              </a:rPr>
              <a:t>playground/**</a:t>
            </a:r>
            <a:endParaRPr lang="en-US" sz="900" dirty="0"/>
          </a:p>
        </p:txBody>
      </p:sp>
      <p:sp>
        <p:nvSpPr>
          <p:cNvPr id="32" name="Text 25"/>
          <p:cNvSpPr/>
          <p:nvPr/>
        </p:nvSpPr>
        <p:spPr>
          <a:xfrm>
            <a:off x="640080" y="5166360"/>
            <a:ext cx="1920240" cy="411480"/>
          </a:xfrm>
          <a:prstGeom prst="roundRect">
            <a:avLst>
              <a:gd name="adj" fmla="val 17778"/>
            </a:avLst>
          </a:prstGeom>
          <a:solidFill>
            <a:srgbClr val="0E1116"/>
          </a:solid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BOB_TASKS.md prompt</a:t>
            </a:r>
            <a:endParaRPr lang="en-US" sz="1050" dirty="0"/>
          </a:p>
        </p:txBody>
      </p:sp>
      <p:sp>
        <p:nvSpPr>
          <p:cNvPr id="33" name="Shape 26"/>
          <p:cNvSpPr/>
          <p:nvPr/>
        </p:nvSpPr>
        <p:spPr>
          <a:xfrm>
            <a:off x="2606040" y="5372100"/>
            <a:ext cx="237744" cy="0"/>
          </a:xfrm>
          <a:prstGeom prst="line">
            <a:avLst/>
          </a:prstGeom>
          <a:noFill/>
          <a:ln w="22225">
            <a:solidFill>
              <a:srgbClr val="5B6675"/>
            </a:solidFill>
            <a:prstDash val="solid"/>
            <a:tailEnd type="triangle"/>
          </a:ln>
        </p:spPr>
      </p:sp>
      <p:sp>
        <p:nvSpPr>
          <p:cNvPr id="34" name="Text 27"/>
          <p:cNvSpPr/>
          <p:nvPr/>
        </p:nvSpPr>
        <p:spPr>
          <a:xfrm>
            <a:off x="2889504" y="5166360"/>
            <a:ext cx="1920240" cy="411480"/>
          </a:xfrm>
          <a:prstGeom prst="roundRect">
            <a:avLst>
              <a:gd name="adj" fmla="val 17778"/>
            </a:avLst>
          </a:prstGeom>
          <a:solidFill>
            <a:srgbClr val="0E1116"/>
          </a:solid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mode + fileRegex</a:t>
            </a:r>
            <a:endParaRPr lang="en-US" sz="1050" dirty="0"/>
          </a:p>
        </p:txBody>
      </p:sp>
      <p:sp>
        <p:nvSpPr>
          <p:cNvPr id="35" name="Shape 28"/>
          <p:cNvSpPr/>
          <p:nvPr/>
        </p:nvSpPr>
        <p:spPr>
          <a:xfrm>
            <a:off x="4855464" y="5372100"/>
            <a:ext cx="237744" cy="0"/>
          </a:xfrm>
          <a:prstGeom prst="line">
            <a:avLst/>
          </a:prstGeom>
          <a:noFill/>
          <a:ln w="22225">
            <a:solidFill>
              <a:srgbClr val="5B6675"/>
            </a:solidFill>
            <a:prstDash val="solid"/>
            <a:tailEnd type="triangle"/>
          </a:ln>
        </p:spPr>
      </p:sp>
      <p:sp>
        <p:nvSpPr>
          <p:cNvPr id="36" name="Text 29"/>
          <p:cNvSpPr/>
          <p:nvPr/>
        </p:nvSpPr>
        <p:spPr>
          <a:xfrm>
            <a:off x="5138928" y="5166360"/>
            <a:ext cx="1920240" cy="411480"/>
          </a:xfrm>
          <a:prstGeom prst="roundRect">
            <a:avLst>
              <a:gd name="adj" fmla="val 17778"/>
            </a:avLst>
          </a:prstGeom>
          <a:solidFill>
            <a:srgbClr val="0E1116"/>
          </a:solid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Bob works</a:t>
            </a:r>
            <a:endParaRPr lang="en-US" sz="1050" dirty="0"/>
          </a:p>
        </p:txBody>
      </p:sp>
      <p:sp>
        <p:nvSpPr>
          <p:cNvPr id="37" name="Shape 30"/>
          <p:cNvSpPr/>
          <p:nvPr/>
        </p:nvSpPr>
        <p:spPr>
          <a:xfrm>
            <a:off x="7104888" y="5372100"/>
            <a:ext cx="237744" cy="0"/>
          </a:xfrm>
          <a:prstGeom prst="line">
            <a:avLst/>
          </a:prstGeom>
          <a:noFill/>
          <a:ln w="22225">
            <a:solidFill>
              <a:srgbClr val="5B6675"/>
            </a:solidFill>
            <a:prstDash val="solid"/>
            <a:tailEnd type="triangle"/>
          </a:ln>
        </p:spPr>
      </p:sp>
      <p:sp>
        <p:nvSpPr>
          <p:cNvPr id="38" name="Text 31"/>
          <p:cNvSpPr/>
          <p:nvPr/>
        </p:nvSpPr>
        <p:spPr>
          <a:xfrm>
            <a:off x="7388352" y="5166360"/>
            <a:ext cx="1920240" cy="411480"/>
          </a:xfrm>
          <a:prstGeom prst="roundRect">
            <a:avLst>
              <a:gd name="adj" fmla="val 17778"/>
            </a:avLst>
          </a:prstGeom>
          <a:solidFill>
            <a:srgbClr val="24A148"/>
          </a:solid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accept check passes</a:t>
            </a:r>
            <a:endParaRPr lang="en-US" sz="1050" dirty="0"/>
          </a:p>
        </p:txBody>
      </p:sp>
      <p:sp>
        <p:nvSpPr>
          <p:cNvPr id="39" name="Shape 32"/>
          <p:cNvSpPr/>
          <p:nvPr/>
        </p:nvSpPr>
        <p:spPr>
          <a:xfrm>
            <a:off x="9354312" y="5372100"/>
            <a:ext cx="237744" cy="0"/>
          </a:xfrm>
          <a:prstGeom prst="line">
            <a:avLst/>
          </a:prstGeom>
          <a:noFill/>
          <a:ln w="22225">
            <a:solidFill>
              <a:srgbClr val="5B6675"/>
            </a:solidFill>
            <a:prstDash val="solid"/>
            <a:tailEnd type="triangle"/>
          </a:ln>
        </p:spPr>
      </p:sp>
      <p:sp>
        <p:nvSpPr>
          <p:cNvPr id="40" name="Text 33"/>
          <p:cNvSpPr/>
          <p:nvPr/>
        </p:nvSpPr>
        <p:spPr>
          <a:xfrm>
            <a:off x="9637776" y="5166360"/>
            <a:ext cx="1920240" cy="411480"/>
          </a:xfrm>
          <a:prstGeom prst="roundRect">
            <a:avLst>
              <a:gd name="adj" fmla="val 17778"/>
            </a:avLst>
          </a:prstGeom>
          <a:solidFill>
            <a:srgbClr val="0E1116"/>
          </a:solid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human reviews + commits</a:t>
            </a:r>
            <a:endParaRPr lang="en-US" sz="1050" dirty="0"/>
          </a:p>
        </p:txBody>
      </p:sp>
      <p:sp>
        <p:nvSpPr>
          <p:cNvPr id="41" name="Text 34"/>
          <p:cNvSpPr/>
          <p:nvPr/>
        </p:nvSpPr>
        <p:spPr>
          <a:xfrm>
            <a:off x="640080" y="5806440"/>
            <a:ext cx="10881360" cy="365760"/>
          </a:xfrm>
          <a:prstGeom prst="rect">
            <a:avLst/>
          </a:prstGeom>
          <a:noFill/>
          <a:ln/>
        </p:spPr>
        <p:txBody>
          <a:bodyPr wrap="square" lIns="0" tIns="0" rIns="0" bIns="0" rtlCol="0" anchor="ctr"/>
          <a:lstStyle/>
          <a:p>
            <a:pPr indent="0" marL="0">
              <a:buNone/>
            </a:pPr>
            <a:r>
              <a:rPr lang="en-US" sz="1200" i="1" dirty="0">
                <a:solidFill>
                  <a:srgbClr val="5B6675"/>
                </a:solidFill>
                <a:latin typeface="Arial" pitchFamily="34" charset="0"/>
                <a:ea typeface="Arial" pitchFamily="34" charset="-122"/>
                <a:cs typeface="Arial" pitchFamily="34" charset="-120"/>
              </a:rPr>
              <a:t>12 prompts · 436 Bob tool calls · ~11,000 lines of transcript in docs/bob-sessions/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400" b="1" dirty="0">
                <a:solidFill>
                  <a:srgbClr val="1B2430"/>
                </a:solidFill>
                <a:latin typeface="Arial" pitchFamily="34" charset="0"/>
                <a:ea typeface="Arial" pitchFamily="34" charset="-122"/>
                <a:cs typeface="Arial" pitchFamily="34" charset="-120"/>
              </a:rPr>
              <a:t>What Bob found, and proved before fixing</a:t>
            </a:r>
            <a:endParaRPr lang="en-US" sz="3400" dirty="0"/>
          </a:p>
        </p:txBody>
      </p:sp>
      <p:sp>
        <p:nvSpPr>
          <p:cNvPr id="3" name="Shape 1"/>
          <p:cNvSpPr/>
          <p:nvPr/>
        </p:nvSpPr>
        <p:spPr>
          <a:xfrm>
            <a:off x="640080" y="1325880"/>
            <a:ext cx="502920" cy="502920"/>
          </a:xfrm>
          <a:prstGeom prst="ellipse">
            <a:avLst/>
          </a:prstGeom>
          <a:solidFill>
            <a:srgbClr val="1B2430"/>
          </a:solidFill>
          <a:ln w="12700">
            <a:solidFill>
              <a:srgbClr val="1B2430"/>
            </a:solidFill>
            <a:prstDash val="solid"/>
          </a:ln>
        </p:spPr>
      </p:sp>
      <p:pic>
        <p:nvPicPr>
          <p:cNvPr id="4" name="Image 0" descr="preencoded.png">    </p:cNvPr>
          <p:cNvPicPr>
            <a:picLocks noChangeAspect="1"/>
          </p:cNvPicPr>
          <p:nvPr/>
        </p:nvPicPr>
        <p:blipFill>
          <a:blip r:embed="rId1"/>
          <a:stretch>
            <a:fillRect/>
          </a:stretch>
        </p:blipFill>
        <p:spPr>
          <a:xfrm>
            <a:off x="775868" y="1461668"/>
            <a:ext cx="231343" cy="231343"/>
          </a:xfrm>
          <a:prstGeom prst="rect">
            <a:avLst/>
          </a:prstGeom>
        </p:spPr>
      </p:pic>
      <p:sp>
        <p:nvSpPr>
          <p:cNvPr id="5" name="Text 2"/>
          <p:cNvSpPr/>
          <p:nvPr/>
        </p:nvSpPr>
        <p:spPr>
          <a:xfrm>
            <a:off x="1280160" y="1325880"/>
            <a:ext cx="4389120" cy="502920"/>
          </a:xfrm>
          <a:prstGeom prst="rect">
            <a:avLst/>
          </a:prstGeom>
          <a:noFill/>
          <a:ln/>
        </p:spPr>
        <p:txBody>
          <a:bodyPr wrap="square" lIns="0" tIns="0" rIns="0" bIns="0" rtlCol="0" anchor="ctr"/>
          <a:lstStyle/>
          <a:p>
            <a:pPr indent="0" marL="0">
              <a:buNone/>
            </a:pPr>
            <a:r>
              <a:rPr lang="en-US" sz="2000" b="1" dirty="0">
                <a:solidFill>
                  <a:srgbClr val="1B2430"/>
                </a:solidFill>
                <a:latin typeface="Arial" pitchFamily="34" charset="0"/>
                <a:ea typeface="Arial" pitchFamily="34" charset="-122"/>
                <a:cs typeface="Arial" pitchFamily="34" charset="-120"/>
              </a:rPr>
              <a:t>7 functional bugs</a:t>
            </a:r>
            <a:endParaRPr lang="en-US" sz="2000" dirty="0"/>
          </a:p>
        </p:txBody>
      </p:sp>
      <p:sp>
        <p:nvSpPr>
          <p:cNvPr id="6" name="Text 3"/>
          <p:cNvSpPr/>
          <p:nvPr/>
        </p:nvSpPr>
        <p:spPr>
          <a:xfrm>
            <a:off x="640080" y="2057400"/>
            <a:ext cx="777240" cy="329184"/>
          </a:xfrm>
          <a:prstGeom prst="roundRect">
            <a:avLst>
              <a:gd name="adj" fmla="val 22222"/>
            </a:avLst>
          </a:prstGeom>
          <a:solidFill>
            <a:srgbClr val="F2F4F7"/>
          </a:solidFill>
          <a:ln/>
        </p:spPr>
        <p:txBody>
          <a:bodyPr wrap="square" lIns="0" tIns="0" rIns="0" bIns="0" rtlCol="0" anchor="ctr"/>
          <a:lstStyle/>
          <a:p>
            <a:pPr algn="ctr" indent="0" marL="0">
              <a:buNone/>
            </a:pPr>
            <a:r>
              <a:rPr lang="en-US" sz="1100" b="1" dirty="0">
                <a:solidFill>
                  <a:srgbClr val="1B2430"/>
                </a:solidFill>
                <a:latin typeface="Courier New" pitchFamily="34" charset="0"/>
                <a:ea typeface="Courier New" pitchFamily="34" charset="-122"/>
                <a:cs typeface="Courier New" pitchFamily="34" charset="-120"/>
              </a:rPr>
              <a:t>B-01</a:t>
            </a:r>
            <a:endParaRPr lang="en-US" sz="1100" dirty="0"/>
          </a:p>
        </p:txBody>
      </p:sp>
      <p:sp>
        <p:nvSpPr>
          <p:cNvPr id="7" name="Text 4"/>
          <p:cNvSpPr/>
          <p:nvPr/>
        </p:nvSpPr>
        <p:spPr>
          <a:xfrm>
            <a:off x="1554480" y="2057400"/>
            <a:ext cx="4480560" cy="329184"/>
          </a:xfrm>
          <a:prstGeom prst="rect">
            <a:avLst/>
          </a:prstGeom>
          <a:noFill/>
          <a:ln/>
        </p:spPr>
        <p:txBody>
          <a:bodyPr wrap="square" lIns="0" tIns="0" rIns="0" bIns="0" rtlCol="0" anchor="ctr"/>
          <a:lstStyle/>
          <a:p>
            <a:pPr indent="0" marL="0">
              <a:buNone/>
            </a:pPr>
            <a:r>
              <a:rPr lang="en-US" sz="1350" dirty="0">
                <a:solidFill>
                  <a:srgbClr val="1B2430"/>
                </a:solidFill>
                <a:latin typeface="Arial" pitchFamily="34" charset="0"/>
                <a:ea typeface="Arial" pitchFamily="34" charset="-122"/>
                <a:cs typeface="Arial" pitchFamily="34" charset="-120"/>
              </a:rPr>
              <a:t>Macro steps sent to the shell as literal text</a:t>
            </a:r>
            <a:endParaRPr lang="en-US" sz="1350" dirty="0"/>
          </a:p>
        </p:txBody>
      </p:sp>
      <p:sp>
        <p:nvSpPr>
          <p:cNvPr id="8" name="Text 5"/>
          <p:cNvSpPr/>
          <p:nvPr/>
        </p:nvSpPr>
        <p:spPr>
          <a:xfrm>
            <a:off x="640080" y="2514600"/>
            <a:ext cx="777240" cy="329184"/>
          </a:xfrm>
          <a:prstGeom prst="roundRect">
            <a:avLst>
              <a:gd name="adj" fmla="val 22222"/>
            </a:avLst>
          </a:prstGeom>
          <a:solidFill>
            <a:srgbClr val="F2F4F7"/>
          </a:solidFill>
          <a:ln/>
        </p:spPr>
        <p:txBody>
          <a:bodyPr wrap="square" lIns="0" tIns="0" rIns="0" bIns="0" rtlCol="0" anchor="ctr"/>
          <a:lstStyle/>
          <a:p>
            <a:pPr algn="ctr" indent="0" marL="0">
              <a:buNone/>
            </a:pPr>
            <a:r>
              <a:rPr lang="en-US" sz="1100" b="1" dirty="0">
                <a:solidFill>
                  <a:srgbClr val="1B2430"/>
                </a:solidFill>
                <a:latin typeface="Courier New" pitchFamily="34" charset="0"/>
                <a:ea typeface="Courier New" pitchFamily="34" charset="-122"/>
                <a:cs typeface="Courier New" pitchFamily="34" charset="-120"/>
              </a:rPr>
              <a:t>B-02</a:t>
            </a:r>
            <a:endParaRPr lang="en-US" sz="1100" dirty="0"/>
          </a:p>
        </p:txBody>
      </p:sp>
      <p:sp>
        <p:nvSpPr>
          <p:cNvPr id="9" name="Text 6"/>
          <p:cNvSpPr/>
          <p:nvPr/>
        </p:nvSpPr>
        <p:spPr>
          <a:xfrm>
            <a:off x="1554480" y="2514600"/>
            <a:ext cx="4480560" cy="329184"/>
          </a:xfrm>
          <a:prstGeom prst="rect">
            <a:avLst/>
          </a:prstGeom>
          <a:noFill/>
          <a:ln/>
        </p:spPr>
        <p:txBody>
          <a:bodyPr wrap="square" lIns="0" tIns="0" rIns="0" bIns="0" rtlCol="0" anchor="ctr"/>
          <a:lstStyle/>
          <a:p>
            <a:pPr indent="0" marL="0">
              <a:buNone/>
            </a:pPr>
            <a:r>
              <a:rPr lang="en-US" sz="1350" dirty="0">
                <a:solidFill>
                  <a:srgbClr val="1B2430"/>
                </a:solidFill>
                <a:latin typeface="Arial" pitchFamily="34" charset="0"/>
                <a:ea typeface="Arial" pitchFamily="34" charset="-122"/>
                <a:cs typeface="Arial" pitchFamily="34" charset="-120"/>
              </a:rPr>
              <a:t>Window commands hit an arbitrary window</a:t>
            </a:r>
            <a:endParaRPr lang="en-US" sz="1350" dirty="0"/>
          </a:p>
        </p:txBody>
      </p:sp>
      <p:sp>
        <p:nvSpPr>
          <p:cNvPr id="10" name="Text 7"/>
          <p:cNvSpPr/>
          <p:nvPr/>
        </p:nvSpPr>
        <p:spPr>
          <a:xfrm>
            <a:off x="640080" y="2971800"/>
            <a:ext cx="777240" cy="329184"/>
          </a:xfrm>
          <a:prstGeom prst="roundRect">
            <a:avLst>
              <a:gd name="adj" fmla="val 22222"/>
            </a:avLst>
          </a:prstGeom>
          <a:solidFill>
            <a:srgbClr val="F2F4F7"/>
          </a:solidFill>
          <a:ln/>
        </p:spPr>
        <p:txBody>
          <a:bodyPr wrap="square" lIns="0" tIns="0" rIns="0" bIns="0" rtlCol="0" anchor="ctr"/>
          <a:lstStyle/>
          <a:p>
            <a:pPr algn="ctr" indent="0" marL="0">
              <a:buNone/>
            </a:pPr>
            <a:r>
              <a:rPr lang="en-US" sz="1100" b="1" dirty="0">
                <a:solidFill>
                  <a:srgbClr val="1B2430"/>
                </a:solidFill>
                <a:latin typeface="Courier New" pitchFamily="34" charset="0"/>
                <a:ea typeface="Courier New" pitchFamily="34" charset="-122"/>
                <a:cs typeface="Courier New" pitchFamily="34" charset="-120"/>
              </a:rPr>
              <a:t>B-03</a:t>
            </a:r>
            <a:endParaRPr lang="en-US" sz="1100" dirty="0"/>
          </a:p>
        </p:txBody>
      </p:sp>
      <p:sp>
        <p:nvSpPr>
          <p:cNvPr id="11" name="Text 8"/>
          <p:cNvSpPr/>
          <p:nvPr/>
        </p:nvSpPr>
        <p:spPr>
          <a:xfrm>
            <a:off x="1554480" y="2971800"/>
            <a:ext cx="4480560" cy="329184"/>
          </a:xfrm>
          <a:prstGeom prst="rect">
            <a:avLst/>
          </a:prstGeom>
          <a:noFill/>
          <a:ln/>
        </p:spPr>
        <p:txBody>
          <a:bodyPr wrap="square" lIns="0" tIns="0" rIns="0" bIns="0" rtlCol="0" anchor="ctr"/>
          <a:lstStyle/>
          <a:p>
            <a:pPr indent="0" marL="0">
              <a:buNone/>
            </a:pPr>
            <a:r>
              <a:rPr lang="en-US" sz="1350" dirty="0">
                <a:solidFill>
                  <a:srgbClr val="1B2430"/>
                </a:solidFill>
                <a:latin typeface="Arial" pitchFamily="34" charset="0"/>
                <a:ea typeface="Arial" pitchFamily="34" charset="-122"/>
                <a:cs typeface="Arial" pitchFamily="34" charset="-120"/>
              </a:rPr>
              <a:t>Linux terminal ignores installed emulators</a:t>
            </a:r>
            <a:endParaRPr lang="en-US" sz="1350" dirty="0"/>
          </a:p>
        </p:txBody>
      </p:sp>
      <p:sp>
        <p:nvSpPr>
          <p:cNvPr id="12" name="Text 9"/>
          <p:cNvSpPr/>
          <p:nvPr/>
        </p:nvSpPr>
        <p:spPr>
          <a:xfrm>
            <a:off x="640080" y="3429000"/>
            <a:ext cx="777240" cy="329184"/>
          </a:xfrm>
          <a:prstGeom prst="roundRect">
            <a:avLst>
              <a:gd name="adj" fmla="val 22222"/>
            </a:avLst>
          </a:prstGeom>
          <a:solidFill>
            <a:srgbClr val="F2F4F7"/>
          </a:solidFill>
          <a:ln/>
        </p:spPr>
        <p:txBody>
          <a:bodyPr wrap="square" lIns="0" tIns="0" rIns="0" bIns="0" rtlCol="0" anchor="ctr"/>
          <a:lstStyle/>
          <a:p>
            <a:pPr algn="ctr" indent="0" marL="0">
              <a:buNone/>
            </a:pPr>
            <a:r>
              <a:rPr lang="en-US" sz="1100" b="1" dirty="0">
                <a:solidFill>
                  <a:srgbClr val="1B2430"/>
                </a:solidFill>
                <a:latin typeface="Courier New" pitchFamily="34" charset="0"/>
                <a:ea typeface="Courier New" pitchFamily="34" charset="-122"/>
                <a:cs typeface="Courier New" pitchFamily="34" charset="-120"/>
              </a:rPr>
              <a:t>B-04</a:t>
            </a:r>
            <a:endParaRPr lang="en-US" sz="1100" dirty="0"/>
          </a:p>
        </p:txBody>
      </p:sp>
      <p:sp>
        <p:nvSpPr>
          <p:cNvPr id="13" name="Text 10"/>
          <p:cNvSpPr/>
          <p:nvPr/>
        </p:nvSpPr>
        <p:spPr>
          <a:xfrm>
            <a:off x="1554480" y="3429000"/>
            <a:ext cx="4480560" cy="329184"/>
          </a:xfrm>
          <a:prstGeom prst="rect">
            <a:avLst/>
          </a:prstGeom>
          <a:noFill/>
          <a:ln/>
        </p:spPr>
        <p:txBody>
          <a:bodyPr wrap="square" lIns="0" tIns="0" rIns="0" bIns="0" rtlCol="0" anchor="ctr"/>
          <a:lstStyle/>
          <a:p>
            <a:pPr indent="0" marL="0">
              <a:buNone/>
            </a:pPr>
            <a:r>
              <a:rPr lang="en-US" sz="1350" dirty="0">
                <a:solidFill>
                  <a:srgbClr val="1B2430"/>
                </a:solidFill>
                <a:latin typeface="Arial" pitchFamily="34" charset="0"/>
                <a:ea typeface="Arial" pitchFamily="34" charset="-122"/>
                <a:cs typeface="Arial" pitchFamily="34" charset="-120"/>
              </a:rPr>
              <a:t>macOS apps with arguments fail to launch</a:t>
            </a:r>
            <a:endParaRPr lang="en-US" sz="1350" dirty="0"/>
          </a:p>
        </p:txBody>
      </p:sp>
      <p:sp>
        <p:nvSpPr>
          <p:cNvPr id="14" name="Text 11"/>
          <p:cNvSpPr/>
          <p:nvPr/>
        </p:nvSpPr>
        <p:spPr>
          <a:xfrm>
            <a:off x="640080" y="3886200"/>
            <a:ext cx="777240" cy="329184"/>
          </a:xfrm>
          <a:prstGeom prst="roundRect">
            <a:avLst>
              <a:gd name="adj" fmla="val 22222"/>
            </a:avLst>
          </a:prstGeom>
          <a:solidFill>
            <a:srgbClr val="F2F4F7"/>
          </a:solidFill>
          <a:ln/>
        </p:spPr>
        <p:txBody>
          <a:bodyPr wrap="square" lIns="0" tIns="0" rIns="0" bIns="0" rtlCol="0" anchor="ctr"/>
          <a:lstStyle/>
          <a:p>
            <a:pPr algn="ctr" indent="0" marL="0">
              <a:buNone/>
            </a:pPr>
            <a:r>
              <a:rPr lang="en-US" sz="1100" b="1" dirty="0">
                <a:solidFill>
                  <a:srgbClr val="1B2430"/>
                </a:solidFill>
                <a:latin typeface="Courier New" pitchFamily="34" charset="0"/>
                <a:ea typeface="Courier New" pitchFamily="34" charset="-122"/>
                <a:cs typeface="Courier New" pitchFamily="34" charset="-120"/>
              </a:rPr>
              <a:t>B-05</a:t>
            </a:r>
            <a:endParaRPr lang="en-US" sz="1100" dirty="0"/>
          </a:p>
        </p:txBody>
      </p:sp>
      <p:sp>
        <p:nvSpPr>
          <p:cNvPr id="15" name="Text 12"/>
          <p:cNvSpPr/>
          <p:nvPr/>
        </p:nvSpPr>
        <p:spPr>
          <a:xfrm>
            <a:off x="1554480" y="3886200"/>
            <a:ext cx="4480560" cy="329184"/>
          </a:xfrm>
          <a:prstGeom prst="rect">
            <a:avLst/>
          </a:prstGeom>
          <a:noFill/>
          <a:ln/>
        </p:spPr>
        <p:txBody>
          <a:bodyPr wrap="square" lIns="0" tIns="0" rIns="0" bIns="0" rtlCol="0" anchor="ctr"/>
          <a:lstStyle/>
          <a:p>
            <a:pPr indent="0" marL="0">
              <a:buNone/>
            </a:pPr>
            <a:r>
              <a:rPr lang="en-US" sz="1350" dirty="0">
                <a:solidFill>
                  <a:srgbClr val="1B2430"/>
                </a:solidFill>
                <a:latin typeface="Arial" pitchFamily="34" charset="0"/>
                <a:ea typeface="Arial" pitchFamily="34" charset="-122"/>
                <a:cs typeface="Arial" pitchFamily="34" charset="-120"/>
              </a:rPr>
              <a:t>CPU fallback keeps the GPU float16 type</a:t>
            </a:r>
            <a:endParaRPr lang="en-US" sz="1350" dirty="0"/>
          </a:p>
        </p:txBody>
      </p:sp>
      <p:sp>
        <p:nvSpPr>
          <p:cNvPr id="16" name="Text 13"/>
          <p:cNvSpPr/>
          <p:nvPr/>
        </p:nvSpPr>
        <p:spPr>
          <a:xfrm>
            <a:off x="640080" y="4343400"/>
            <a:ext cx="777240" cy="329184"/>
          </a:xfrm>
          <a:prstGeom prst="roundRect">
            <a:avLst>
              <a:gd name="adj" fmla="val 22222"/>
            </a:avLst>
          </a:prstGeom>
          <a:solidFill>
            <a:srgbClr val="F2F4F7"/>
          </a:solidFill>
          <a:ln/>
        </p:spPr>
        <p:txBody>
          <a:bodyPr wrap="square" lIns="0" tIns="0" rIns="0" bIns="0" rtlCol="0" anchor="ctr"/>
          <a:lstStyle/>
          <a:p>
            <a:pPr algn="ctr" indent="0" marL="0">
              <a:buNone/>
            </a:pPr>
            <a:r>
              <a:rPr lang="en-US" sz="1100" b="1" dirty="0">
                <a:solidFill>
                  <a:srgbClr val="1B2430"/>
                </a:solidFill>
                <a:latin typeface="Courier New" pitchFamily="34" charset="0"/>
                <a:ea typeface="Courier New" pitchFamily="34" charset="-122"/>
                <a:cs typeface="Courier New" pitchFamily="34" charset="-120"/>
              </a:rPr>
              <a:t>B-06</a:t>
            </a:r>
            <a:endParaRPr lang="en-US" sz="1100" dirty="0"/>
          </a:p>
        </p:txBody>
      </p:sp>
      <p:sp>
        <p:nvSpPr>
          <p:cNvPr id="17" name="Text 14"/>
          <p:cNvSpPr/>
          <p:nvPr/>
        </p:nvSpPr>
        <p:spPr>
          <a:xfrm>
            <a:off x="1554480" y="4343400"/>
            <a:ext cx="4480560" cy="329184"/>
          </a:xfrm>
          <a:prstGeom prst="rect">
            <a:avLst/>
          </a:prstGeom>
          <a:noFill/>
          <a:ln/>
        </p:spPr>
        <p:txBody>
          <a:bodyPr wrap="square" lIns="0" tIns="0" rIns="0" bIns="0" rtlCol="0" anchor="ctr"/>
          <a:lstStyle/>
          <a:p>
            <a:pPr indent="0" marL="0">
              <a:buNone/>
            </a:pPr>
            <a:r>
              <a:rPr lang="en-US" sz="1350" dirty="0">
                <a:solidFill>
                  <a:srgbClr val="1B2430"/>
                </a:solidFill>
                <a:latin typeface="Arial" pitchFamily="34" charset="0"/>
                <a:ea typeface="Arial" pitchFamily="34" charset="-122"/>
                <a:cs typeface="Arial" pitchFamily="34" charset="-120"/>
              </a:rPr>
              <a:t>Wake-word thread dies on any error</a:t>
            </a:r>
            <a:endParaRPr lang="en-US" sz="1350" dirty="0"/>
          </a:p>
        </p:txBody>
      </p:sp>
      <p:sp>
        <p:nvSpPr>
          <p:cNvPr id="18" name="Text 15"/>
          <p:cNvSpPr/>
          <p:nvPr/>
        </p:nvSpPr>
        <p:spPr>
          <a:xfrm>
            <a:off x="640080" y="4800600"/>
            <a:ext cx="777240" cy="329184"/>
          </a:xfrm>
          <a:prstGeom prst="roundRect">
            <a:avLst>
              <a:gd name="adj" fmla="val 22222"/>
            </a:avLst>
          </a:prstGeom>
          <a:solidFill>
            <a:srgbClr val="F2F4F7"/>
          </a:solidFill>
          <a:ln/>
        </p:spPr>
        <p:txBody>
          <a:bodyPr wrap="square" lIns="0" tIns="0" rIns="0" bIns="0" rtlCol="0" anchor="ctr"/>
          <a:lstStyle/>
          <a:p>
            <a:pPr algn="ctr" indent="0" marL="0">
              <a:buNone/>
            </a:pPr>
            <a:r>
              <a:rPr lang="en-US" sz="1100" b="1" dirty="0">
                <a:solidFill>
                  <a:srgbClr val="1B2430"/>
                </a:solidFill>
                <a:latin typeface="Courier New" pitchFamily="34" charset="0"/>
                <a:ea typeface="Courier New" pitchFamily="34" charset="-122"/>
                <a:cs typeface="Courier New" pitchFamily="34" charset="-120"/>
              </a:rPr>
              <a:t>B-07</a:t>
            </a:r>
            <a:endParaRPr lang="en-US" sz="1100" dirty="0"/>
          </a:p>
        </p:txBody>
      </p:sp>
      <p:sp>
        <p:nvSpPr>
          <p:cNvPr id="19" name="Text 16"/>
          <p:cNvSpPr/>
          <p:nvPr/>
        </p:nvSpPr>
        <p:spPr>
          <a:xfrm>
            <a:off x="1554480" y="4800600"/>
            <a:ext cx="4480560" cy="329184"/>
          </a:xfrm>
          <a:prstGeom prst="rect">
            <a:avLst/>
          </a:prstGeom>
          <a:noFill/>
          <a:ln/>
        </p:spPr>
        <p:txBody>
          <a:bodyPr wrap="square" lIns="0" tIns="0" rIns="0" bIns="0" rtlCol="0" anchor="ctr"/>
          <a:lstStyle/>
          <a:p>
            <a:pPr indent="0" marL="0">
              <a:buNone/>
            </a:pPr>
            <a:r>
              <a:rPr lang="en-US" sz="1350" dirty="0">
                <a:solidFill>
                  <a:srgbClr val="1B2430"/>
                </a:solidFill>
                <a:latin typeface="Arial" pitchFamily="34" charset="0"/>
                <a:ea typeface="Arial" pitchFamily="34" charset="-122"/>
                <a:cs typeface="Arial" pitchFamily="34" charset="-120"/>
              </a:rPr>
              <a:t>Config silently overrides built-in commands</a:t>
            </a:r>
            <a:endParaRPr lang="en-US" sz="1350" dirty="0"/>
          </a:p>
        </p:txBody>
      </p:sp>
      <p:sp>
        <p:nvSpPr>
          <p:cNvPr id="20" name="Text 17"/>
          <p:cNvSpPr/>
          <p:nvPr/>
        </p:nvSpPr>
        <p:spPr>
          <a:xfrm>
            <a:off x="640080" y="5394960"/>
            <a:ext cx="5394960" cy="548640"/>
          </a:xfrm>
          <a:prstGeom prst="rect">
            <a:avLst/>
          </a:prstGeom>
          <a:noFill/>
          <a:ln/>
        </p:spPr>
        <p:txBody>
          <a:bodyPr wrap="square" lIns="0" tIns="0" rIns="0" bIns="0" rtlCol="0" anchor="ctr"/>
          <a:lstStyle/>
          <a:p>
            <a:pPr indent="0" marL="0">
              <a:buNone/>
            </a:pPr>
            <a:r>
              <a:rPr lang="en-US" sz="1200" i="1" dirty="0">
                <a:solidFill>
                  <a:srgbClr val="5B6675"/>
                </a:solidFill>
                <a:latin typeface="Arial" pitchFamily="34" charset="0"/>
                <a:ea typeface="Arial" pitchFamily="34" charset="-122"/>
                <a:cs typeface="Arial" pitchFamily="34" charset="-120"/>
              </a:rPr>
              <a:t>Each bug got a test marked xfail(strict=True) that failed until the fix landed.</a:t>
            </a:r>
            <a:endParaRPr lang="en-US" sz="1200" dirty="0"/>
          </a:p>
        </p:txBody>
      </p:sp>
      <p:sp>
        <p:nvSpPr>
          <p:cNvPr id="21" name="Shape 18"/>
          <p:cNvSpPr/>
          <p:nvPr/>
        </p:nvSpPr>
        <p:spPr>
          <a:xfrm>
            <a:off x="6492240" y="1325880"/>
            <a:ext cx="502920" cy="502920"/>
          </a:xfrm>
          <a:prstGeom prst="ellipse">
            <a:avLst/>
          </a:prstGeom>
          <a:solidFill>
            <a:srgbClr val="E8A33D"/>
          </a:solidFill>
          <a:ln w="12700">
            <a:solidFill>
              <a:srgbClr val="E8A33D"/>
            </a:solidFill>
            <a:prstDash val="solid"/>
          </a:ln>
        </p:spPr>
      </p:sp>
      <p:pic>
        <p:nvPicPr>
          <p:cNvPr id="22" name="Image 1" descr="preencoded.png">    </p:cNvPr>
          <p:cNvPicPr>
            <a:picLocks noChangeAspect="1"/>
          </p:cNvPicPr>
          <p:nvPr/>
        </p:nvPicPr>
        <p:blipFill>
          <a:blip r:embed="rId2"/>
          <a:stretch>
            <a:fillRect/>
          </a:stretch>
        </p:blipFill>
        <p:spPr>
          <a:xfrm>
            <a:off x="6628028" y="1461668"/>
            <a:ext cx="231343" cy="231343"/>
          </a:xfrm>
          <a:prstGeom prst="rect">
            <a:avLst/>
          </a:prstGeom>
        </p:spPr>
      </p:pic>
      <p:sp>
        <p:nvSpPr>
          <p:cNvPr id="23" name="Text 19"/>
          <p:cNvSpPr/>
          <p:nvPr/>
        </p:nvSpPr>
        <p:spPr>
          <a:xfrm>
            <a:off x="7132320" y="1325880"/>
            <a:ext cx="4389120" cy="502920"/>
          </a:xfrm>
          <a:prstGeom prst="rect">
            <a:avLst/>
          </a:prstGeom>
          <a:noFill/>
          <a:ln/>
        </p:spPr>
        <p:txBody>
          <a:bodyPr wrap="square" lIns="0" tIns="0" rIns="0" bIns="0" rtlCol="0" anchor="ctr"/>
          <a:lstStyle/>
          <a:p>
            <a:pPr indent="0" marL="0">
              <a:buNone/>
            </a:pPr>
            <a:r>
              <a:rPr lang="en-US" sz="2000" b="1" dirty="0">
                <a:solidFill>
                  <a:srgbClr val="1B2430"/>
                </a:solidFill>
                <a:latin typeface="Arial" pitchFamily="34" charset="0"/>
                <a:ea typeface="Arial" pitchFamily="34" charset="-122"/>
                <a:cs typeface="Arial" pitchFamily="34" charset="-120"/>
              </a:rPr>
              <a:t>9 security findings</a:t>
            </a:r>
            <a:endParaRPr lang="en-US" sz="2000" dirty="0"/>
          </a:p>
        </p:txBody>
      </p:sp>
      <p:sp>
        <p:nvSpPr>
          <p:cNvPr id="24" name="Shape 20"/>
          <p:cNvSpPr/>
          <p:nvPr/>
        </p:nvSpPr>
        <p:spPr>
          <a:xfrm>
            <a:off x="6492240" y="2057400"/>
            <a:ext cx="1600200" cy="1417320"/>
          </a:xfrm>
          <a:prstGeom prst="roundRect">
            <a:avLst>
              <a:gd name="adj" fmla="val 7742"/>
            </a:avLst>
          </a:prstGeom>
          <a:solidFill>
            <a:srgbClr val="F2F4F7"/>
          </a:solidFill>
          <a:ln w="12700">
            <a:solidFill>
              <a:srgbClr val="F2F4F7"/>
            </a:solidFill>
            <a:prstDash val="solid"/>
          </a:ln>
        </p:spPr>
      </p:sp>
      <p:sp>
        <p:nvSpPr>
          <p:cNvPr id="25" name="Text 21"/>
          <p:cNvSpPr/>
          <p:nvPr/>
        </p:nvSpPr>
        <p:spPr>
          <a:xfrm>
            <a:off x="6492240" y="2103120"/>
            <a:ext cx="1600200" cy="868680"/>
          </a:xfrm>
          <a:prstGeom prst="rect">
            <a:avLst/>
          </a:prstGeom>
          <a:noFill/>
          <a:ln/>
        </p:spPr>
        <p:txBody>
          <a:bodyPr wrap="square" lIns="0" tIns="0" rIns="0" bIns="0" rtlCol="0" anchor="ctr"/>
          <a:lstStyle/>
          <a:p>
            <a:pPr algn="ctr" indent="0" marL="0">
              <a:buNone/>
            </a:pPr>
            <a:r>
              <a:rPr lang="en-US" sz="4800" b="1" dirty="0">
                <a:solidFill>
                  <a:srgbClr val="D9534F"/>
                </a:solidFill>
                <a:latin typeface="Arial" pitchFamily="34" charset="0"/>
                <a:ea typeface="Arial" pitchFamily="34" charset="-122"/>
                <a:cs typeface="Arial" pitchFamily="34" charset="-120"/>
              </a:rPr>
              <a:t>2</a:t>
            </a:r>
            <a:endParaRPr lang="en-US" sz="4800" dirty="0"/>
          </a:p>
        </p:txBody>
      </p:sp>
      <p:sp>
        <p:nvSpPr>
          <p:cNvPr id="26" name="Text 22"/>
          <p:cNvSpPr/>
          <p:nvPr/>
        </p:nvSpPr>
        <p:spPr>
          <a:xfrm>
            <a:off x="6492240" y="2971800"/>
            <a:ext cx="1600200" cy="365760"/>
          </a:xfrm>
          <a:prstGeom prst="rect">
            <a:avLst/>
          </a:prstGeom>
          <a:noFill/>
          <a:ln/>
        </p:spPr>
        <p:txBody>
          <a:bodyPr wrap="square" lIns="0" tIns="0" rIns="0" bIns="0" rtlCol="0" anchor="ctr"/>
          <a:lstStyle/>
          <a:p>
            <a:pPr algn="ctr" indent="0" marL="0">
              <a:buNone/>
            </a:pPr>
            <a:r>
              <a:rPr lang="en-US" sz="1300" dirty="0">
                <a:solidFill>
                  <a:srgbClr val="1B2430"/>
                </a:solidFill>
                <a:latin typeface="Arial" pitchFamily="34" charset="0"/>
                <a:ea typeface="Arial" pitchFamily="34" charset="-122"/>
                <a:cs typeface="Arial" pitchFamily="34" charset="-120"/>
              </a:rPr>
              <a:t>Critical</a:t>
            </a:r>
            <a:endParaRPr lang="en-US" sz="1300" dirty="0"/>
          </a:p>
        </p:txBody>
      </p:sp>
      <p:sp>
        <p:nvSpPr>
          <p:cNvPr id="27" name="Shape 23"/>
          <p:cNvSpPr/>
          <p:nvPr/>
        </p:nvSpPr>
        <p:spPr>
          <a:xfrm>
            <a:off x="8229600" y="2057400"/>
            <a:ext cx="1600200" cy="1417320"/>
          </a:xfrm>
          <a:prstGeom prst="roundRect">
            <a:avLst>
              <a:gd name="adj" fmla="val 7742"/>
            </a:avLst>
          </a:prstGeom>
          <a:solidFill>
            <a:srgbClr val="F2F4F7"/>
          </a:solidFill>
          <a:ln w="12700">
            <a:solidFill>
              <a:srgbClr val="F2F4F7"/>
            </a:solidFill>
            <a:prstDash val="solid"/>
          </a:ln>
        </p:spPr>
      </p:sp>
      <p:sp>
        <p:nvSpPr>
          <p:cNvPr id="28" name="Text 24"/>
          <p:cNvSpPr/>
          <p:nvPr/>
        </p:nvSpPr>
        <p:spPr>
          <a:xfrm>
            <a:off x="8229600" y="2103120"/>
            <a:ext cx="1600200" cy="868680"/>
          </a:xfrm>
          <a:prstGeom prst="rect">
            <a:avLst/>
          </a:prstGeom>
          <a:noFill/>
          <a:ln/>
        </p:spPr>
        <p:txBody>
          <a:bodyPr wrap="square" lIns="0" tIns="0" rIns="0" bIns="0" rtlCol="0" anchor="ctr"/>
          <a:lstStyle/>
          <a:p>
            <a:pPr algn="ctr" indent="0" marL="0">
              <a:buNone/>
            </a:pPr>
            <a:r>
              <a:rPr lang="en-US" sz="4800" b="1" dirty="0">
                <a:solidFill>
                  <a:srgbClr val="E8A33D"/>
                </a:solidFill>
                <a:latin typeface="Arial" pitchFamily="34" charset="0"/>
                <a:ea typeface="Arial" pitchFamily="34" charset="-122"/>
                <a:cs typeface="Arial" pitchFamily="34" charset="-120"/>
              </a:rPr>
              <a:t>3</a:t>
            </a:r>
            <a:endParaRPr lang="en-US" sz="4800" dirty="0"/>
          </a:p>
        </p:txBody>
      </p:sp>
      <p:sp>
        <p:nvSpPr>
          <p:cNvPr id="29" name="Text 25"/>
          <p:cNvSpPr/>
          <p:nvPr/>
        </p:nvSpPr>
        <p:spPr>
          <a:xfrm>
            <a:off x="8229600" y="2971800"/>
            <a:ext cx="1600200" cy="365760"/>
          </a:xfrm>
          <a:prstGeom prst="rect">
            <a:avLst/>
          </a:prstGeom>
          <a:noFill/>
          <a:ln/>
        </p:spPr>
        <p:txBody>
          <a:bodyPr wrap="square" lIns="0" tIns="0" rIns="0" bIns="0" rtlCol="0" anchor="ctr"/>
          <a:lstStyle/>
          <a:p>
            <a:pPr algn="ctr" indent="0" marL="0">
              <a:buNone/>
            </a:pPr>
            <a:r>
              <a:rPr lang="en-US" sz="1300" dirty="0">
                <a:solidFill>
                  <a:srgbClr val="1B2430"/>
                </a:solidFill>
                <a:latin typeface="Arial" pitchFamily="34" charset="0"/>
                <a:ea typeface="Arial" pitchFamily="34" charset="-122"/>
                <a:cs typeface="Arial" pitchFamily="34" charset="-120"/>
              </a:rPr>
              <a:t>High</a:t>
            </a:r>
            <a:endParaRPr lang="en-US" sz="1300" dirty="0"/>
          </a:p>
        </p:txBody>
      </p:sp>
      <p:sp>
        <p:nvSpPr>
          <p:cNvPr id="30" name="Shape 26"/>
          <p:cNvSpPr/>
          <p:nvPr/>
        </p:nvSpPr>
        <p:spPr>
          <a:xfrm>
            <a:off x="9966960" y="2057400"/>
            <a:ext cx="1600200" cy="1417320"/>
          </a:xfrm>
          <a:prstGeom prst="roundRect">
            <a:avLst>
              <a:gd name="adj" fmla="val 7742"/>
            </a:avLst>
          </a:prstGeom>
          <a:solidFill>
            <a:srgbClr val="F2F4F7"/>
          </a:solidFill>
          <a:ln w="12700">
            <a:solidFill>
              <a:srgbClr val="F2F4F7"/>
            </a:solidFill>
            <a:prstDash val="solid"/>
          </a:ln>
        </p:spPr>
      </p:sp>
      <p:sp>
        <p:nvSpPr>
          <p:cNvPr id="31" name="Text 27"/>
          <p:cNvSpPr/>
          <p:nvPr/>
        </p:nvSpPr>
        <p:spPr>
          <a:xfrm>
            <a:off x="9966960" y="2103120"/>
            <a:ext cx="1600200" cy="868680"/>
          </a:xfrm>
          <a:prstGeom prst="rect">
            <a:avLst/>
          </a:prstGeom>
          <a:noFill/>
          <a:ln/>
        </p:spPr>
        <p:txBody>
          <a:bodyPr wrap="square" lIns="0" tIns="0" rIns="0" bIns="0" rtlCol="0" anchor="ctr"/>
          <a:lstStyle/>
          <a:p>
            <a:pPr algn="ctr" indent="0" marL="0">
              <a:buNone/>
            </a:pPr>
            <a:r>
              <a:rPr lang="en-US" sz="4800" b="1" dirty="0">
                <a:solidFill>
                  <a:srgbClr val="E9C46A"/>
                </a:solidFill>
                <a:latin typeface="Arial" pitchFamily="34" charset="0"/>
                <a:ea typeface="Arial" pitchFamily="34" charset="-122"/>
                <a:cs typeface="Arial" pitchFamily="34" charset="-120"/>
              </a:rPr>
              <a:t>4</a:t>
            </a:r>
            <a:endParaRPr lang="en-US" sz="4800" dirty="0"/>
          </a:p>
        </p:txBody>
      </p:sp>
      <p:sp>
        <p:nvSpPr>
          <p:cNvPr id="32" name="Text 28"/>
          <p:cNvSpPr/>
          <p:nvPr/>
        </p:nvSpPr>
        <p:spPr>
          <a:xfrm>
            <a:off x="9966960" y="2971800"/>
            <a:ext cx="1600200" cy="365760"/>
          </a:xfrm>
          <a:prstGeom prst="rect">
            <a:avLst/>
          </a:prstGeom>
          <a:noFill/>
          <a:ln/>
        </p:spPr>
        <p:txBody>
          <a:bodyPr wrap="square" lIns="0" tIns="0" rIns="0" bIns="0" rtlCol="0" anchor="ctr"/>
          <a:lstStyle/>
          <a:p>
            <a:pPr algn="ctr" indent="0" marL="0">
              <a:buNone/>
            </a:pPr>
            <a:r>
              <a:rPr lang="en-US" sz="1300" dirty="0">
                <a:solidFill>
                  <a:srgbClr val="1B2430"/>
                </a:solidFill>
                <a:latin typeface="Arial" pitchFamily="34" charset="0"/>
                <a:ea typeface="Arial" pitchFamily="34" charset="-122"/>
                <a:cs typeface="Arial" pitchFamily="34" charset="-120"/>
              </a:rPr>
              <a:t>Medium</a:t>
            </a:r>
            <a:endParaRPr lang="en-US" sz="1300" dirty="0"/>
          </a:p>
        </p:txBody>
      </p:sp>
      <p:sp>
        <p:nvSpPr>
          <p:cNvPr id="33" name="Text 29"/>
          <p:cNvSpPr/>
          <p:nvPr/>
        </p:nvSpPr>
        <p:spPr>
          <a:xfrm>
            <a:off x="6492240" y="3794760"/>
            <a:ext cx="777240" cy="329184"/>
          </a:xfrm>
          <a:prstGeom prst="roundRect">
            <a:avLst>
              <a:gd name="adj" fmla="val 22222"/>
            </a:avLst>
          </a:prstGeom>
          <a:solidFill>
            <a:srgbClr val="D9534F"/>
          </a:solid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S-01</a:t>
            </a:r>
            <a:endParaRPr lang="en-US" sz="1100" dirty="0"/>
          </a:p>
        </p:txBody>
      </p:sp>
      <p:sp>
        <p:nvSpPr>
          <p:cNvPr id="34" name="Text 30"/>
          <p:cNvSpPr/>
          <p:nvPr/>
        </p:nvSpPr>
        <p:spPr>
          <a:xfrm>
            <a:off x="7406640" y="3721608"/>
            <a:ext cx="4160520" cy="548640"/>
          </a:xfrm>
          <a:prstGeom prst="rect">
            <a:avLst/>
          </a:prstGeom>
          <a:noFill/>
          <a:ln/>
        </p:spPr>
        <p:txBody>
          <a:bodyPr wrap="square" lIns="0" tIns="0" rIns="0" bIns="0" rtlCol="0" anchor="ctr"/>
          <a:lstStyle/>
          <a:p>
            <a:pPr indent="0" marL="0">
              <a:buNone/>
            </a:pPr>
            <a:r>
              <a:rPr lang="en-US" sz="1250" dirty="0">
                <a:solidFill>
                  <a:srgbClr val="1B2430"/>
                </a:solidFill>
                <a:latin typeface="Arial" pitchFamily="34" charset="0"/>
                <a:ea typeface="Arial" pitchFamily="34" charset="-122"/>
                <a:cs typeface="Arial" pitchFamily="34" charset="-120"/>
              </a:rPr>
              <a:t>AppleScript injection: unescaped string in do script "…" (terminal.py:51)</a:t>
            </a:r>
            <a:endParaRPr lang="en-US" sz="1250" dirty="0"/>
          </a:p>
        </p:txBody>
      </p:sp>
      <p:sp>
        <p:nvSpPr>
          <p:cNvPr id="35" name="Text 31"/>
          <p:cNvSpPr/>
          <p:nvPr/>
        </p:nvSpPr>
        <p:spPr>
          <a:xfrm>
            <a:off x="6492240" y="4480560"/>
            <a:ext cx="777240" cy="329184"/>
          </a:xfrm>
          <a:prstGeom prst="roundRect">
            <a:avLst>
              <a:gd name="adj" fmla="val 22222"/>
            </a:avLst>
          </a:prstGeom>
          <a:solidFill>
            <a:srgbClr val="D9534F"/>
          </a:solid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S-02</a:t>
            </a:r>
            <a:endParaRPr lang="en-US" sz="1100" dirty="0"/>
          </a:p>
        </p:txBody>
      </p:sp>
      <p:sp>
        <p:nvSpPr>
          <p:cNvPr id="36" name="Text 32"/>
          <p:cNvSpPr/>
          <p:nvPr/>
        </p:nvSpPr>
        <p:spPr>
          <a:xfrm>
            <a:off x="7406640" y="4407408"/>
            <a:ext cx="4160520" cy="548640"/>
          </a:xfrm>
          <a:prstGeom prst="rect">
            <a:avLst/>
          </a:prstGeom>
          <a:noFill/>
          <a:ln/>
        </p:spPr>
        <p:txBody>
          <a:bodyPr wrap="square" lIns="0" tIns="0" rIns="0" bIns="0" rtlCol="0" anchor="ctr"/>
          <a:lstStyle/>
          <a:p>
            <a:pPr indent="0" marL="0">
              <a:buNone/>
            </a:pPr>
            <a:r>
              <a:rPr lang="en-US" sz="1250" dirty="0">
                <a:solidFill>
                  <a:srgbClr val="1B2430"/>
                </a:solidFill>
                <a:latin typeface="Arial" pitchFamily="34" charset="0"/>
                <a:ea typeface="Arial" pitchFamily="34" charset="-122"/>
                <a:cs typeface="Arial" pitchFamily="34" charset="-120"/>
              </a:rPr>
              <a:t>cmd injection: shell=True with config and transcript values (terminal.py:44)</a:t>
            </a:r>
            <a:endParaRPr lang="en-US" sz="1250" dirty="0"/>
          </a:p>
        </p:txBody>
      </p:sp>
      <p:sp>
        <p:nvSpPr>
          <p:cNvPr id="37" name="Text 33"/>
          <p:cNvSpPr/>
          <p:nvPr/>
        </p:nvSpPr>
        <p:spPr>
          <a:xfrm>
            <a:off x="6492240" y="5394960"/>
            <a:ext cx="5120640" cy="548640"/>
          </a:xfrm>
          <a:prstGeom prst="rect">
            <a:avLst/>
          </a:prstGeom>
          <a:noFill/>
          <a:ln/>
        </p:spPr>
        <p:txBody>
          <a:bodyPr wrap="square" lIns="0" tIns="0" rIns="0" bIns="0" rtlCol="0" anchor="ctr"/>
          <a:lstStyle/>
          <a:p>
            <a:pPr indent="0" marL="0">
              <a:buNone/>
            </a:pPr>
            <a:r>
              <a:rPr lang="en-US" sz="1200" i="1" dirty="0">
                <a:solidFill>
                  <a:srgbClr val="5B6675"/>
                </a:solidFill>
                <a:latin typeface="Arial" pitchFamily="34" charset="0"/>
                <a:ea typeface="Arial" pitchFamily="34" charset="-122"/>
                <a:cs typeface="Arial" pitchFamily="34" charset="-120"/>
              </a:rPr>
              <a:t>bandit: 5 High, 12 Low · pip-audit: 0 CVEs, but nothing pinned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Before → after</a:t>
            </a:r>
            <a:endParaRPr lang="en-US" sz="3400" dirty="0"/>
          </a:p>
        </p:txBody>
      </p:sp>
      <p:sp>
        <p:nvSpPr>
          <p:cNvPr id="3" name="Shape 1"/>
          <p:cNvSpPr/>
          <p:nvPr/>
        </p:nvSpPr>
        <p:spPr>
          <a:xfrm>
            <a:off x="640080" y="1463040"/>
            <a:ext cx="2606040" cy="3017520"/>
          </a:xfrm>
          <a:prstGeom prst="roundRect">
            <a:avLst>
              <a:gd name="adj" fmla="val 4211"/>
            </a:avLst>
          </a:prstGeom>
          <a:solidFill>
            <a:srgbClr val="1A2029"/>
          </a:solidFill>
          <a:ln w="12700">
            <a:solidFill>
              <a:srgbClr val="1A2029"/>
            </a:solidFill>
            <a:prstDash val="solid"/>
          </a:ln>
        </p:spPr>
      </p:sp>
      <p:sp>
        <p:nvSpPr>
          <p:cNvPr id="4" name="Text 2"/>
          <p:cNvSpPr/>
          <p:nvPr/>
        </p:nvSpPr>
        <p:spPr>
          <a:xfrm>
            <a:off x="914400" y="1737360"/>
            <a:ext cx="2103120" cy="365760"/>
          </a:xfrm>
          <a:prstGeom prst="rect">
            <a:avLst/>
          </a:prstGeom>
          <a:noFill/>
          <a:ln/>
        </p:spPr>
        <p:txBody>
          <a:bodyPr wrap="square" lIns="0" tIns="0" rIns="0" bIns="0" rtlCol="0" anchor="ctr"/>
          <a:lstStyle/>
          <a:p>
            <a:pPr indent="0" marL="0">
              <a:buNone/>
            </a:pPr>
            <a:r>
              <a:rPr lang="en-US" sz="1500" b="1" dirty="0">
                <a:solidFill>
                  <a:srgbClr val="B8C1CC"/>
                </a:solidFill>
                <a:latin typeface="Arial" pitchFamily="34" charset="0"/>
                <a:ea typeface="Arial" pitchFamily="34" charset="-122"/>
                <a:cs typeface="Arial" pitchFamily="34" charset="-120"/>
              </a:rPr>
              <a:t>Tests</a:t>
            </a:r>
            <a:endParaRPr lang="en-US" sz="1500" dirty="0"/>
          </a:p>
        </p:txBody>
      </p:sp>
      <p:sp>
        <p:nvSpPr>
          <p:cNvPr id="5" name="Text 3"/>
          <p:cNvSpPr/>
          <p:nvPr/>
        </p:nvSpPr>
        <p:spPr>
          <a:xfrm>
            <a:off x="914400" y="2240280"/>
            <a:ext cx="2194560" cy="1097280"/>
          </a:xfrm>
          <a:prstGeom prst="rect">
            <a:avLst/>
          </a:prstGeom>
          <a:noFill/>
          <a:ln/>
        </p:spPr>
        <p:txBody>
          <a:bodyPr wrap="square" lIns="0" tIns="0" rIns="0" bIns="0" rtlCol="0" anchor="b"/>
          <a:lstStyle/>
          <a:p>
            <a:pPr indent="0" marL="0">
              <a:buNone/>
            </a:pPr>
            <a:r>
              <a:rPr lang="en-US" sz="2600" dirty="0">
                <a:solidFill>
                  <a:srgbClr val="5B6675"/>
                </a:solidFill>
                <a:latin typeface="Arial" pitchFamily="34" charset="0"/>
                <a:ea typeface="Arial" pitchFamily="34" charset="-122"/>
                <a:cs typeface="Arial" pitchFamily="34" charset="-120"/>
              </a:rPr>
              <a:t>45</a:t>
            </a:r>
            <a:pPr indent="0" marL="0">
              <a:buNone/>
            </a:pPr>
            <a:r>
              <a:rPr lang="en-US" sz="2000" dirty="0">
                <a:solidFill>
                  <a:srgbClr val="5B6675"/>
                </a:solidFill>
                <a:latin typeface="Arial" pitchFamily="34" charset="0"/>
                <a:ea typeface="Arial" pitchFamily="34" charset="-122"/>
                <a:cs typeface="Arial" pitchFamily="34" charset="-120"/>
              </a:rPr>
              <a:t>  →  </a:t>
            </a:r>
            <a:pPr indent="0" marL="0">
              <a:buNone/>
            </a:pPr>
            <a:r>
              <a:rPr lang="en-US" sz="6000" b="1" dirty="0">
                <a:solidFill>
                  <a:srgbClr val="78A9FF"/>
                </a:solidFill>
                <a:latin typeface="Arial" pitchFamily="34" charset="0"/>
                <a:ea typeface="Arial" pitchFamily="34" charset="-122"/>
                <a:cs typeface="Arial" pitchFamily="34" charset="-120"/>
              </a:rPr>
              <a:t>163</a:t>
            </a:r>
            <a:endParaRPr lang="en-US" sz="2600" dirty="0"/>
          </a:p>
        </p:txBody>
      </p:sp>
      <p:sp>
        <p:nvSpPr>
          <p:cNvPr id="6" name="Text 4"/>
          <p:cNvSpPr/>
          <p:nvPr/>
        </p:nvSpPr>
        <p:spPr>
          <a:xfrm>
            <a:off x="914400" y="3520440"/>
            <a:ext cx="2194560" cy="731520"/>
          </a:xfrm>
          <a:prstGeom prst="rect">
            <a:avLst/>
          </a:prstGeom>
          <a:noFill/>
          <a:ln/>
        </p:spPr>
        <p:txBody>
          <a:bodyPr wrap="square" lIns="0" tIns="0" rIns="0" bIns="0" rtlCol="0" anchor="t"/>
          <a:lstStyle/>
          <a:p>
            <a:pPr indent="0" marL="0">
              <a:buNone/>
            </a:pPr>
            <a:r>
              <a:rPr lang="en-US" sz="1200" dirty="0">
                <a:solidFill>
                  <a:srgbClr val="B8C1CC"/>
                </a:solidFill>
                <a:latin typeface="Arial" pitchFamily="34" charset="0"/>
                <a:ea typeface="Arial" pitchFamily="34" charset="-122"/>
                <a:cs typeface="Arial" pitchFamily="34" charset="-120"/>
              </a:rPr>
              <a:t>121 voice-assistant</a:t>
            </a:r>
            <a:endParaRPr lang="en-US" sz="1200" dirty="0"/>
          </a:p>
          <a:p>
            <a:pPr indent="0" marL="0">
              <a:buNone/>
            </a:pPr>
            <a:r>
              <a:rPr lang="en-US" sz="1200" dirty="0">
                <a:solidFill>
                  <a:srgbClr val="B8C1CC"/>
                </a:solidFill>
                <a:latin typeface="Arial" pitchFamily="34" charset="0"/>
                <a:ea typeface="Arial" pitchFamily="34" charset="-122"/>
                <a:cs typeface="Arial" pitchFamily="34" charset="-120"/>
              </a:rPr>
              <a:t>+ 42 playground</a:t>
            </a:r>
            <a:endParaRPr lang="en-US" sz="1200" dirty="0"/>
          </a:p>
        </p:txBody>
      </p:sp>
      <p:sp>
        <p:nvSpPr>
          <p:cNvPr id="7" name="Shape 5"/>
          <p:cNvSpPr/>
          <p:nvPr/>
        </p:nvSpPr>
        <p:spPr>
          <a:xfrm>
            <a:off x="3429000" y="1463040"/>
            <a:ext cx="2606040" cy="3017520"/>
          </a:xfrm>
          <a:prstGeom prst="roundRect">
            <a:avLst>
              <a:gd name="adj" fmla="val 4211"/>
            </a:avLst>
          </a:prstGeom>
          <a:solidFill>
            <a:srgbClr val="1A2029"/>
          </a:solidFill>
          <a:ln w="12700">
            <a:solidFill>
              <a:srgbClr val="1A2029"/>
            </a:solidFill>
            <a:prstDash val="solid"/>
          </a:ln>
        </p:spPr>
      </p:sp>
      <p:sp>
        <p:nvSpPr>
          <p:cNvPr id="8" name="Text 6"/>
          <p:cNvSpPr/>
          <p:nvPr/>
        </p:nvSpPr>
        <p:spPr>
          <a:xfrm>
            <a:off x="3703320" y="1737360"/>
            <a:ext cx="2103120" cy="365760"/>
          </a:xfrm>
          <a:prstGeom prst="rect">
            <a:avLst/>
          </a:prstGeom>
          <a:noFill/>
          <a:ln/>
        </p:spPr>
        <p:txBody>
          <a:bodyPr wrap="square" lIns="0" tIns="0" rIns="0" bIns="0" rtlCol="0" anchor="ctr"/>
          <a:lstStyle/>
          <a:p>
            <a:pPr indent="0" marL="0">
              <a:buNone/>
            </a:pPr>
            <a:r>
              <a:rPr lang="en-US" sz="1500" b="1" dirty="0">
                <a:solidFill>
                  <a:srgbClr val="B8C1CC"/>
                </a:solidFill>
                <a:latin typeface="Arial" pitchFamily="34" charset="0"/>
                <a:ea typeface="Arial" pitchFamily="34" charset="-122"/>
                <a:cs typeface="Arial" pitchFamily="34" charset="-120"/>
              </a:rPr>
              <a:t>CI jobs</a:t>
            </a:r>
            <a:endParaRPr lang="en-US" sz="1500" dirty="0"/>
          </a:p>
        </p:txBody>
      </p:sp>
      <p:sp>
        <p:nvSpPr>
          <p:cNvPr id="9" name="Text 7"/>
          <p:cNvSpPr/>
          <p:nvPr/>
        </p:nvSpPr>
        <p:spPr>
          <a:xfrm>
            <a:off x="3703320" y="2240280"/>
            <a:ext cx="2194560" cy="1097280"/>
          </a:xfrm>
          <a:prstGeom prst="rect">
            <a:avLst/>
          </a:prstGeom>
          <a:noFill/>
          <a:ln/>
        </p:spPr>
        <p:txBody>
          <a:bodyPr wrap="square" lIns="0" tIns="0" rIns="0" bIns="0" rtlCol="0" anchor="b"/>
          <a:lstStyle/>
          <a:p>
            <a:pPr indent="0" marL="0">
              <a:buNone/>
            </a:pPr>
            <a:r>
              <a:rPr lang="en-US" sz="2600" dirty="0">
                <a:solidFill>
                  <a:srgbClr val="5B6675"/>
                </a:solidFill>
                <a:latin typeface="Arial" pitchFamily="34" charset="0"/>
                <a:ea typeface="Arial" pitchFamily="34" charset="-122"/>
                <a:cs typeface="Arial" pitchFamily="34" charset="-120"/>
              </a:rPr>
              <a:t>1</a:t>
            </a:r>
            <a:pPr indent="0" marL="0">
              <a:buNone/>
            </a:pPr>
            <a:r>
              <a:rPr lang="en-US" sz="2000" dirty="0">
                <a:solidFill>
                  <a:srgbClr val="5B6675"/>
                </a:solidFill>
                <a:latin typeface="Arial" pitchFamily="34" charset="0"/>
                <a:ea typeface="Arial" pitchFamily="34" charset="-122"/>
                <a:cs typeface="Arial" pitchFamily="34" charset="-120"/>
              </a:rPr>
              <a:t>  →  </a:t>
            </a:r>
            <a:pPr indent="0" marL="0">
              <a:buNone/>
            </a:pPr>
            <a:r>
              <a:rPr lang="en-US" sz="6000" b="1" dirty="0">
                <a:solidFill>
                  <a:srgbClr val="78A9FF"/>
                </a:solidFill>
                <a:latin typeface="Arial" pitchFamily="34" charset="0"/>
                <a:ea typeface="Arial" pitchFamily="34" charset="-122"/>
                <a:cs typeface="Arial" pitchFamily="34" charset="-120"/>
              </a:rPr>
              <a:t>8</a:t>
            </a:r>
            <a:endParaRPr lang="en-US" sz="2600" dirty="0"/>
          </a:p>
        </p:txBody>
      </p:sp>
      <p:sp>
        <p:nvSpPr>
          <p:cNvPr id="10" name="Text 8"/>
          <p:cNvSpPr/>
          <p:nvPr/>
        </p:nvSpPr>
        <p:spPr>
          <a:xfrm>
            <a:off x="3703320" y="3520440"/>
            <a:ext cx="2194560" cy="731520"/>
          </a:xfrm>
          <a:prstGeom prst="rect">
            <a:avLst/>
          </a:prstGeom>
          <a:noFill/>
          <a:ln/>
        </p:spPr>
        <p:txBody>
          <a:bodyPr wrap="square" lIns="0" tIns="0" rIns="0" bIns="0" rtlCol="0" anchor="t"/>
          <a:lstStyle/>
          <a:p>
            <a:pPr indent="0" marL="0">
              <a:buNone/>
            </a:pPr>
            <a:r>
              <a:rPr lang="en-US" sz="1200" dirty="0">
                <a:solidFill>
                  <a:srgbClr val="B8C1CC"/>
                </a:solidFill>
                <a:latin typeface="Arial" pitchFamily="34" charset="0"/>
                <a:ea typeface="Arial" pitchFamily="34" charset="-122"/>
                <a:cs typeface="Arial" pitchFamily="34" charset="-120"/>
              </a:rPr>
              <a:t>Ubuntu · macOS · Windows</a:t>
            </a:r>
            <a:endParaRPr lang="en-US" sz="1200" dirty="0"/>
          </a:p>
          <a:p>
            <a:pPr indent="0" marL="0">
              <a:buNone/>
            </a:pPr>
            <a:r>
              <a:rPr lang="en-US" sz="1200" dirty="0">
                <a:solidFill>
                  <a:srgbClr val="B8C1CC"/>
                </a:solidFill>
                <a:latin typeface="Arial" pitchFamily="34" charset="0"/>
                <a:ea typeface="Arial" pitchFamily="34" charset="-122"/>
                <a:cs typeface="Arial" pitchFamily="34" charset="-120"/>
              </a:rPr>
              <a:t>× Python 3.10 / 3.12</a:t>
            </a:r>
            <a:endParaRPr lang="en-US" sz="1200" dirty="0"/>
          </a:p>
        </p:txBody>
      </p:sp>
      <p:sp>
        <p:nvSpPr>
          <p:cNvPr id="11" name="Shape 9"/>
          <p:cNvSpPr/>
          <p:nvPr/>
        </p:nvSpPr>
        <p:spPr>
          <a:xfrm>
            <a:off x="6217920" y="1463040"/>
            <a:ext cx="2606040" cy="3017520"/>
          </a:xfrm>
          <a:prstGeom prst="roundRect">
            <a:avLst>
              <a:gd name="adj" fmla="val 4211"/>
            </a:avLst>
          </a:prstGeom>
          <a:solidFill>
            <a:srgbClr val="1A2029"/>
          </a:solidFill>
          <a:ln w="12700">
            <a:solidFill>
              <a:srgbClr val="1A2029"/>
            </a:solidFill>
            <a:prstDash val="solid"/>
          </a:ln>
        </p:spPr>
      </p:sp>
      <p:sp>
        <p:nvSpPr>
          <p:cNvPr id="12" name="Text 10"/>
          <p:cNvSpPr/>
          <p:nvPr/>
        </p:nvSpPr>
        <p:spPr>
          <a:xfrm>
            <a:off x="6492240" y="1737360"/>
            <a:ext cx="2103120" cy="365760"/>
          </a:xfrm>
          <a:prstGeom prst="rect">
            <a:avLst/>
          </a:prstGeom>
          <a:noFill/>
          <a:ln/>
        </p:spPr>
        <p:txBody>
          <a:bodyPr wrap="square" lIns="0" tIns="0" rIns="0" bIns="0" rtlCol="0" anchor="ctr"/>
          <a:lstStyle/>
          <a:p>
            <a:pPr indent="0" marL="0">
              <a:buNone/>
            </a:pPr>
            <a:r>
              <a:rPr lang="en-US" sz="1500" b="1" dirty="0">
                <a:solidFill>
                  <a:srgbClr val="B8C1CC"/>
                </a:solidFill>
                <a:latin typeface="Arial" pitchFamily="34" charset="0"/>
                <a:ea typeface="Arial" pitchFamily="34" charset="-122"/>
                <a:cs typeface="Arial" pitchFamily="34" charset="-120"/>
              </a:rPr>
              <a:t>bandit High</a:t>
            </a:r>
            <a:endParaRPr lang="en-US" sz="1500" dirty="0"/>
          </a:p>
        </p:txBody>
      </p:sp>
      <p:sp>
        <p:nvSpPr>
          <p:cNvPr id="13" name="Text 11"/>
          <p:cNvSpPr/>
          <p:nvPr/>
        </p:nvSpPr>
        <p:spPr>
          <a:xfrm>
            <a:off x="6492240" y="2240280"/>
            <a:ext cx="2194560" cy="1097280"/>
          </a:xfrm>
          <a:prstGeom prst="rect">
            <a:avLst/>
          </a:prstGeom>
          <a:noFill/>
          <a:ln/>
        </p:spPr>
        <p:txBody>
          <a:bodyPr wrap="square" lIns="0" tIns="0" rIns="0" bIns="0" rtlCol="0" anchor="b"/>
          <a:lstStyle/>
          <a:p>
            <a:pPr indent="0" marL="0">
              <a:buNone/>
            </a:pPr>
            <a:r>
              <a:rPr lang="en-US" sz="2600" dirty="0">
                <a:solidFill>
                  <a:srgbClr val="5B6675"/>
                </a:solidFill>
                <a:latin typeface="Arial" pitchFamily="34" charset="0"/>
                <a:ea typeface="Arial" pitchFamily="34" charset="-122"/>
                <a:cs typeface="Arial" pitchFamily="34" charset="-120"/>
              </a:rPr>
              <a:t>5</a:t>
            </a:r>
            <a:pPr indent="0" marL="0">
              <a:buNone/>
            </a:pPr>
            <a:r>
              <a:rPr lang="en-US" sz="2000" dirty="0">
                <a:solidFill>
                  <a:srgbClr val="5B6675"/>
                </a:solidFill>
                <a:latin typeface="Arial" pitchFamily="34" charset="0"/>
                <a:ea typeface="Arial" pitchFamily="34" charset="-122"/>
                <a:cs typeface="Arial" pitchFamily="34" charset="-120"/>
              </a:rPr>
              <a:t>  →  </a:t>
            </a:r>
            <a:pPr indent="0" marL="0">
              <a:buNone/>
            </a:pPr>
            <a:r>
              <a:rPr lang="en-US" sz="6000" b="1" dirty="0">
                <a:solidFill>
                  <a:srgbClr val="78A9FF"/>
                </a:solidFill>
                <a:latin typeface="Arial" pitchFamily="34" charset="0"/>
                <a:ea typeface="Arial" pitchFamily="34" charset="-122"/>
                <a:cs typeface="Arial" pitchFamily="34" charset="-120"/>
              </a:rPr>
              <a:t>0</a:t>
            </a:r>
            <a:endParaRPr lang="en-US" sz="2600" dirty="0"/>
          </a:p>
        </p:txBody>
      </p:sp>
      <p:sp>
        <p:nvSpPr>
          <p:cNvPr id="14" name="Text 12"/>
          <p:cNvSpPr/>
          <p:nvPr/>
        </p:nvSpPr>
        <p:spPr>
          <a:xfrm>
            <a:off x="6492240" y="3520440"/>
            <a:ext cx="2194560" cy="731520"/>
          </a:xfrm>
          <a:prstGeom prst="rect">
            <a:avLst/>
          </a:prstGeom>
          <a:noFill/>
          <a:ln/>
        </p:spPr>
        <p:txBody>
          <a:bodyPr wrap="square" lIns="0" tIns="0" rIns="0" bIns="0" rtlCol="0" anchor="t"/>
          <a:lstStyle/>
          <a:p>
            <a:pPr indent="0" marL="0">
              <a:buNone/>
            </a:pPr>
            <a:r>
              <a:rPr lang="en-US" sz="1200" dirty="0">
                <a:solidFill>
                  <a:srgbClr val="B8C1CC"/>
                </a:solidFill>
                <a:latin typeface="Arial" pitchFamily="34" charset="0"/>
                <a:ea typeface="Arial" pitchFamily="34" charset="-122"/>
                <a:cs typeface="Arial" pitchFamily="34" charset="-120"/>
              </a:rPr>
              <a:t>no shell=True</a:t>
            </a:r>
            <a:endParaRPr lang="en-US" sz="1200" dirty="0"/>
          </a:p>
          <a:p>
            <a:pPr indent="0" marL="0">
              <a:buNone/>
            </a:pPr>
            <a:r>
              <a:rPr lang="en-US" sz="1200" dirty="0">
                <a:solidFill>
                  <a:srgbClr val="B8C1CC"/>
                </a:solidFill>
                <a:latin typeface="Arial" pitchFamily="34" charset="0"/>
                <a:ea typeface="Arial" pitchFamily="34" charset="-122"/>
                <a:cs typeface="Arial" pitchFamily="34" charset="-120"/>
              </a:rPr>
              <a:t>anywhere</a:t>
            </a:r>
            <a:endParaRPr lang="en-US" sz="1200" dirty="0"/>
          </a:p>
        </p:txBody>
      </p:sp>
      <p:sp>
        <p:nvSpPr>
          <p:cNvPr id="15" name="Shape 13"/>
          <p:cNvSpPr/>
          <p:nvPr/>
        </p:nvSpPr>
        <p:spPr>
          <a:xfrm>
            <a:off x="9006840" y="1463040"/>
            <a:ext cx="2606040" cy="3017520"/>
          </a:xfrm>
          <a:prstGeom prst="roundRect">
            <a:avLst>
              <a:gd name="adj" fmla="val 4211"/>
            </a:avLst>
          </a:prstGeom>
          <a:solidFill>
            <a:srgbClr val="1A2029"/>
          </a:solidFill>
          <a:ln w="12700">
            <a:solidFill>
              <a:srgbClr val="1A2029"/>
            </a:solidFill>
            <a:prstDash val="solid"/>
          </a:ln>
        </p:spPr>
      </p:sp>
      <p:sp>
        <p:nvSpPr>
          <p:cNvPr id="16" name="Text 14"/>
          <p:cNvSpPr/>
          <p:nvPr/>
        </p:nvSpPr>
        <p:spPr>
          <a:xfrm>
            <a:off x="9281160" y="1737360"/>
            <a:ext cx="2103120" cy="365760"/>
          </a:xfrm>
          <a:prstGeom prst="rect">
            <a:avLst/>
          </a:prstGeom>
          <a:noFill/>
          <a:ln/>
        </p:spPr>
        <p:txBody>
          <a:bodyPr wrap="square" lIns="0" tIns="0" rIns="0" bIns="0" rtlCol="0" anchor="ctr"/>
          <a:lstStyle/>
          <a:p>
            <a:pPr indent="0" marL="0">
              <a:buNone/>
            </a:pPr>
            <a:r>
              <a:rPr lang="en-US" sz="1500" b="1" dirty="0">
                <a:solidFill>
                  <a:srgbClr val="B8C1CC"/>
                </a:solidFill>
                <a:latin typeface="Arial" pitchFamily="34" charset="0"/>
                <a:ea typeface="Arial" pitchFamily="34" charset="-122"/>
                <a:cs typeface="Arial" pitchFamily="34" charset="-120"/>
              </a:rPr>
              <a:t>Open findings</a:t>
            </a:r>
            <a:endParaRPr lang="en-US" sz="1500" dirty="0"/>
          </a:p>
        </p:txBody>
      </p:sp>
      <p:sp>
        <p:nvSpPr>
          <p:cNvPr id="17" name="Text 15"/>
          <p:cNvSpPr/>
          <p:nvPr/>
        </p:nvSpPr>
        <p:spPr>
          <a:xfrm>
            <a:off x="9281160" y="2240280"/>
            <a:ext cx="2194560" cy="1097280"/>
          </a:xfrm>
          <a:prstGeom prst="rect">
            <a:avLst/>
          </a:prstGeom>
          <a:noFill/>
          <a:ln/>
        </p:spPr>
        <p:txBody>
          <a:bodyPr wrap="square" lIns="0" tIns="0" rIns="0" bIns="0" rtlCol="0" anchor="b"/>
          <a:lstStyle/>
          <a:p>
            <a:pPr indent="0" marL="0">
              <a:buNone/>
            </a:pPr>
            <a:r>
              <a:rPr lang="en-US" sz="2600" dirty="0">
                <a:solidFill>
                  <a:srgbClr val="5B6675"/>
                </a:solidFill>
                <a:latin typeface="Arial" pitchFamily="34" charset="0"/>
                <a:ea typeface="Arial" pitchFamily="34" charset="-122"/>
                <a:cs typeface="Arial" pitchFamily="34" charset="-120"/>
              </a:rPr>
              <a:t>16</a:t>
            </a:r>
            <a:pPr indent="0" marL="0">
              <a:buNone/>
            </a:pPr>
            <a:r>
              <a:rPr lang="en-US" sz="2000" dirty="0">
                <a:solidFill>
                  <a:srgbClr val="5B6675"/>
                </a:solidFill>
                <a:latin typeface="Arial" pitchFamily="34" charset="0"/>
                <a:ea typeface="Arial" pitchFamily="34" charset="-122"/>
                <a:cs typeface="Arial" pitchFamily="34" charset="-120"/>
              </a:rPr>
              <a:t>  →  </a:t>
            </a:r>
            <a:pPr indent="0" marL="0">
              <a:buNone/>
            </a:pPr>
            <a:r>
              <a:rPr lang="en-US" sz="6000" b="1" dirty="0">
                <a:solidFill>
                  <a:srgbClr val="78A9FF"/>
                </a:solidFill>
                <a:latin typeface="Arial" pitchFamily="34" charset="0"/>
                <a:ea typeface="Arial" pitchFamily="34" charset="-122"/>
                <a:cs typeface="Arial" pitchFamily="34" charset="-120"/>
              </a:rPr>
              <a:t>0</a:t>
            </a:r>
            <a:endParaRPr lang="en-US" sz="2600" dirty="0"/>
          </a:p>
        </p:txBody>
      </p:sp>
      <p:sp>
        <p:nvSpPr>
          <p:cNvPr id="18" name="Text 16"/>
          <p:cNvSpPr/>
          <p:nvPr/>
        </p:nvSpPr>
        <p:spPr>
          <a:xfrm>
            <a:off x="9281160" y="3520440"/>
            <a:ext cx="2194560" cy="731520"/>
          </a:xfrm>
          <a:prstGeom prst="rect">
            <a:avLst/>
          </a:prstGeom>
          <a:noFill/>
          <a:ln/>
        </p:spPr>
        <p:txBody>
          <a:bodyPr wrap="square" lIns="0" tIns="0" rIns="0" bIns="0" rtlCol="0" anchor="t"/>
          <a:lstStyle/>
          <a:p>
            <a:pPr indent="0" marL="0">
              <a:buNone/>
            </a:pPr>
            <a:r>
              <a:rPr lang="en-US" sz="1200" dirty="0">
                <a:solidFill>
                  <a:srgbClr val="B8C1CC"/>
                </a:solidFill>
                <a:latin typeface="Arial" pitchFamily="34" charset="0"/>
                <a:ea typeface="Arial" pitchFamily="34" charset="-122"/>
                <a:cs typeface="Arial" pitchFamily="34" charset="-120"/>
              </a:rPr>
              <a:t>7 bugs + 9 security,</a:t>
            </a:r>
            <a:endParaRPr lang="en-US" sz="1200" dirty="0"/>
          </a:p>
          <a:p>
            <a:pPr indent="0" marL="0">
              <a:buNone/>
            </a:pPr>
            <a:r>
              <a:rPr lang="en-US" sz="1200" dirty="0">
                <a:solidFill>
                  <a:srgbClr val="B8C1CC"/>
                </a:solidFill>
                <a:latin typeface="Arial" pitchFamily="34" charset="0"/>
                <a:ea typeface="Arial" pitchFamily="34" charset="-122"/>
                <a:cs typeface="Arial" pitchFamily="34" charset="-120"/>
              </a:rPr>
              <a:t>each traced to a test</a:t>
            </a:r>
            <a:endParaRPr lang="en-US" sz="1200" dirty="0"/>
          </a:p>
        </p:txBody>
      </p:sp>
      <p:sp>
        <p:nvSpPr>
          <p:cNvPr id="19" name="Text 17"/>
          <p:cNvSpPr/>
          <p:nvPr/>
        </p:nvSpPr>
        <p:spPr>
          <a:xfrm>
            <a:off x="640080" y="4937760"/>
            <a:ext cx="2377440" cy="411480"/>
          </a:xfrm>
          <a:prstGeom prst="roundRect">
            <a:avLst>
              <a:gd name="adj" fmla="val 17778"/>
            </a:avLst>
          </a:prstGeom>
          <a:solidFill>
            <a:srgbClr val="1A2029"/>
          </a:solidFill>
          <a:ln/>
        </p:spPr>
        <p:txBody>
          <a:bodyPr wrap="square" lIns="0" tIns="0" rIns="0" bIns="0" rtlCol="0" anchor="ctr"/>
          <a:lstStyle/>
          <a:p>
            <a:pPr algn="ctr" indent="0" marL="0">
              <a:buNone/>
            </a:pPr>
            <a:r>
              <a:rPr lang="en-US" sz="1150" b="1" dirty="0">
                <a:solidFill>
                  <a:srgbClr val="78A9FF"/>
                </a:solidFill>
                <a:latin typeface="Courier New" pitchFamily="34" charset="0"/>
                <a:ea typeface="Courier New" pitchFamily="34" charset="-122"/>
                <a:cs typeface="Courier New" pitchFamily="34" charset="-120"/>
              </a:rPr>
              <a:t>--text / --dry-run</a:t>
            </a:r>
            <a:endParaRPr lang="en-US" sz="1150" dirty="0"/>
          </a:p>
        </p:txBody>
      </p:sp>
      <p:sp>
        <p:nvSpPr>
          <p:cNvPr id="20" name="Text 18"/>
          <p:cNvSpPr/>
          <p:nvPr/>
        </p:nvSpPr>
        <p:spPr>
          <a:xfrm>
            <a:off x="640080" y="5440680"/>
            <a:ext cx="3566160" cy="365760"/>
          </a:xfrm>
          <a:prstGeom prst="rect">
            <a:avLst/>
          </a:prstGeom>
          <a:noFill/>
          <a:ln/>
        </p:spPr>
        <p:txBody>
          <a:bodyPr wrap="square" lIns="0" tIns="0" rIns="0" bIns="0" rtlCol="0" anchor="ctr"/>
          <a:lstStyle/>
          <a:p>
            <a:pPr indent="0" marL="0">
              <a:buNone/>
            </a:pPr>
            <a:r>
              <a:rPr lang="en-US" sz="1300" dirty="0">
                <a:solidFill>
                  <a:srgbClr val="B8C1CC"/>
                </a:solidFill>
                <a:latin typeface="Arial" pitchFamily="34" charset="0"/>
                <a:ea typeface="Arial" pitchFamily="34" charset="-122"/>
                <a:cs typeface="Arial" pitchFamily="34" charset="-120"/>
              </a:rPr>
              <a:t>runs without a microphone</a:t>
            </a:r>
            <a:endParaRPr lang="en-US" sz="1300" dirty="0"/>
          </a:p>
        </p:txBody>
      </p:sp>
      <p:sp>
        <p:nvSpPr>
          <p:cNvPr id="21" name="Text 19"/>
          <p:cNvSpPr/>
          <p:nvPr/>
        </p:nvSpPr>
        <p:spPr>
          <a:xfrm>
            <a:off x="4389120" y="4937760"/>
            <a:ext cx="2377440" cy="411480"/>
          </a:xfrm>
          <a:prstGeom prst="roundRect">
            <a:avLst>
              <a:gd name="adj" fmla="val 17778"/>
            </a:avLst>
          </a:prstGeom>
          <a:solidFill>
            <a:srgbClr val="1A2029"/>
          </a:solidFill>
          <a:ln/>
        </p:spPr>
        <p:txBody>
          <a:bodyPr wrap="square" lIns="0" tIns="0" rIns="0" bIns="0" rtlCol="0" anchor="ctr"/>
          <a:lstStyle/>
          <a:p>
            <a:pPr algn="ctr" indent="0" marL="0">
              <a:buNone/>
            </a:pPr>
            <a:r>
              <a:rPr lang="en-US" sz="1150" b="1" dirty="0">
                <a:solidFill>
                  <a:srgbClr val="78A9FF"/>
                </a:solidFill>
                <a:latin typeface="Courier New" pitchFamily="34" charset="0"/>
                <a:ea typeface="Courier New" pitchFamily="34" charset="-122"/>
                <a:cs typeface="Courier New" pitchFamily="34" charset="-120"/>
              </a:rPr>
              <a:t>confirm_destructive</a:t>
            </a:r>
            <a:endParaRPr lang="en-US" sz="1150" dirty="0"/>
          </a:p>
        </p:txBody>
      </p:sp>
      <p:sp>
        <p:nvSpPr>
          <p:cNvPr id="22" name="Text 20"/>
          <p:cNvSpPr/>
          <p:nvPr/>
        </p:nvSpPr>
        <p:spPr>
          <a:xfrm>
            <a:off x="4389120" y="5440680"/>
            <a:ext cx="3566160" cy="365760"/>
          </a:xfrm>
          <a:prstGeom prst="rect">
            <a:avLst/>
          </a:prstGeom>
          <a:noFill/>
          <a:ln/>
        </p:spPr>
        <p:txBody>
          <a:bodyPr wrap="square" lIns="0" tIns="0" rIns="0" bIns="0" rtlCol="0" anchor="ctr"/>
          <a:lstStyle/>
          <a:p>
            <a:pPr indent="0" marL="0">
              <a:buNone/>
            </a:pPr>
            <a:r>
              <a:rPr lang="en-US" sz="1300" dirty="0">
                <a:solidFill>
                  <a:srgbClr val="B8C1CC"/>
                </a:solidFill>
                <a:latin typeface="Arial" pitchFamily="34" charset="0"/>
                <a:ea typeface="Arial" pitchFamily="34" charset="-122"/>
                <a:cs typeface="Arial" pitchFamily="34" charset="-120"/>
              </a:rPr>
              <a:t>asks before closing or running</a:t>
            </a:r>
            <a:endParaRPr lang="en-US" sz="1300" dirty="0"/>
          </a:p>
        </p:txBody>
      </p:sp>
      <p:sp>
        <p:nvSpPr>
          <p:cNvPr id="23" name="Text 21"/>
          <p:cNvSpPr/>
          <p:nvPr/>
        </p:nvSpPr>
        <p:spPr>
          <a:xfrm>
            <a:off x="8138160" y="4937760"/>
            <a:ext cx="2377440" cy="411480"/>
          </a:xfrm>
          <a:prstGeom prst="roundRect">
            <a:avLst>
              <a:gd name="adj" fmla="val 17778"/>
            </a:avLst>
          </a:prstGeom>
          <a:solidFill>
            <a:srgbClr val="1A2029"/>
          </a:solidFill>
          <a:ln/>
        </p:spPr>
        <p:txBody>
          <a:bodyPr wrap="square" lIns="0" tIns="0" rIns="0" bIns="0" rtlCol="0" anchor="ctr"/>
          <a:lstStyle/>
          <a:p>
            <a:pPr algn="ctr" indent="0" marL="0">
              <a:buNone/>
            </a:pPr>
            <a:r>
              <a:rPr lang="en-US" sz="1150" b="1" dirty="0">
                <a:solidFill>
                  <a:srgbClr val="78A9FF"/>
                </a:solidFill>
                <a:latin typeface="Courier New" pitchFamily="34" charset="0"/>
                <a:ea typeface="Courier New" pitchFamily="34" charset="-122"/>
                <a:cs typeface="Courier New" pitchFamily="34" charset="-120"/>
              </a:rPr>
              <a:t>PORCUPINE_ACCESS_KEY</a:t>
            </a:r>
            <a:endParaRPr lang="en-US" sz="1150" dirty="0"/>
          </a:p>
        </p:txBody>
      </p:sp>
      <p:sp>
        <p:nvSpPr>
          <p:cNvPr id="24" name="Text 22"/>
          <p:cNvSpPr/>
          <p:nvPr/>
        </p:nvSpPr>
        <p:spPr>
          <a:xfrm>
            <a:off x="8138160" y="5440680"/>
            <a:ext cx="3566160" cy="365760"/>
          </a:xfrm>
          <a:prstGeom prst="rect">
            <a:avLst/>
          </a:prstGeom>
          <a:noFill/>
          <a:ln/>
        </p:spPr>
        <p:txBody>
          <a:bodyPr wrap="square" lIns="0" tIns="0" rIns="0" bIns="0" rtlCol="0" anchor="ctr"/>
          <a:lstStyle/>
          <a:p>
            <a:pPr indent="0" marL="0">
              <a:buNone/>
            </a:pPr>
            <a:r>
              <a:rPr lang="en-US" sz="1300" dirty="0">
                <a:solidFill>
                  <a:srgbClr val="B8C1CC"/>
                </a:solidFill>
                <a:latin typeface="Arial" pitchFamily="34" charset="0"/>
                <a:ea typeface="Arial" pitchFamily="34" charset="-122"/>
                <a:cs typeface="Arial" pitchFamily="34" charset="-120"/>
              </a:rPr>
              <a:t>keeps the key out of config.yaml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400" b="1" dirty="0">
                <a:solidFill>
                  <a:srgbClr val="1B2430"/>
                </a:solidFill>
                <a:latin typeface="Arial" pitchFamily="34" charset="0"/>
                <a:ea typeface="Arial" pitchFamily="34" charset="-122"/>
                <a:cs typeface="Arial" pitchFamily="34" charset="-120"/>
              </a:rPr>
              <a:t>What Bob built: try it without a microphone</a:t>
            </a:r>
            <a:endParaRPr lang="en-US" sz="3400" dirty="0"/>
          </a:p>
        </p:txBody>
      </p:sp>
      <p:sp>
        <p:nvSpPr>
          <p:cNvPr id="3" name="Shape 1"/>
          <p:cNvSpPr/>
          <p:nvPr/>
        </p:nvSpPr>
        <p:spPr>
          <a:xfrm>
            <a:off x="640080" y="1371600"/>
            <a:ext cx="6126480" cy="4526280"/>
          </a:xfrm>
          <a:prstGeom prst="roundRect">
            <a:avLst>
              <a:gd name="adj" fmla="val 2828"/>
            </a:avLst>
          </a:prstGeom>
          <a:solidFill>
            <a:srgbClr val="0E1116"/>
          </a:solidFill>
          <a:ln w="12700">
            <a:solidFill>
              <a:srgbClr val="0E1116"/>
            </a:solidFill>
            <a:prstDash val="solid"/>
          </a:ln>
        </p:spPr>
      </p:sp>
      <p:sp>
        <p:nvSpPr>
          <p:cNvPr id="4" name="Shape 2"/>
          <p:cNvSpPr/>
          <p:nvPr/>
        </p:nvSpPr>
        <p:spPr>
          <a:xfrm>
            <a:off x="896112" y="1600200"/>
            <a:ext cx="146304" cy="146304"/>
          </a:xfrm>
          <a:prstGeom prst="ellipse">
            <a:avLst/>
          </a:prstGeom>
          <a:solidFill>
            <a:srgbClr val="D9534F"/>
          </a:solidFill>
          <a:ln w="12700">
            <a:solidFill>
              <a:srgbClr val="D9534F"/>
            </a:solidFill>
            <a:prstDash val="solid"/>
          </a:ln>
        </p:spPr>
      </p:sp>
      <p:sp>
        <p:nvSpPr>
          <p:cNvPr id="5" name="Shape 3"/>
          <p:cNvSpPr/>
          <p:nvPr/>
        </p:nvSpPr>
        <p:spPr>
          <a:xfrm>
            <a:off x="1143000" y="1600200"/>
            <a:ext cx="146304" cy="146304"/>
          </a:xfrm>
          <a:prstGeom prst="ellipse">
            <a:avLst/>
          </a:prstGeom>
          <a:solidFill>
            <a:srgbClr val="E8A33D"/>
          </a:solidFill>
          <a:ln w="12700">
            <a:solidFill>
              <a:srgbClr val="E8A33D"/>
            </a:solidFill>
            <a:prstDash val="solid"/>
          </a:ln>
        </p:spPr>
      </p:sp>
      <p:sp>
        <p:nvSpPr>
          <p:cNvPr id="6" name="Shape 4"/>
          <p:cNvSpPr/>
          <p:nvPr/>
        </p:nvSpPr>
        <p:spPr>
          <a:xfrm>
            <a:off x="1389888" y="1600200"/>
            <a:ext cx="146304" cy="146304"/>
          </a:xfrm>
          <a:prstGeom prst="ellipse">
            <a:avLst/>
          </a:prstGeom>
          <a:solidFill>
            <a:srgbClr val="2FBF71"/>
          </a:solidFill>
          <a:ln w="12700">
            <a:solidFill>
              <a:srgbClr val="2FBF71"/>
            </a:solidFill>
            <a:prstDash val="solid"/>
          </a:ln>
        </p:spPr>
      </p:sp>
      <p:sp>
        <p:nvSpPr>
          <p:cNvPr id="7" name="Text 5"/>
          <p:cNvSpPr/>
          <p:nvPr/>
        </p:nvSpPr>
        <p:spPr>
          <a:xfrm>
            <a:off x="914400" y="1965960"/>
            <a:ext cx="5669280" cy="3749040"/>
          </a:xfrm>
          <a:prstGeom prst="rect">
            <a:avLst/>
          </a:prstGeom>
          <a:noFill/>
          <a:ln/>
        </p:spPr>
        <p:txBody>
          <a:bodyPr wrap="square" lIns="0" tIns="0" rIns="0" bIns="0" rtlCol="0" anchor="t"/>
          <a:lstStyle/>
          <a:p>
            <a:pPr indent="0" marL="0">
              <a:buNone/>
            </a:pPr>
            <a:r>
              <a:rPr lang="en-US" sz="1400" dirty="0">
                <a:solidFill>
                  <a:srgbClr val="2FBF71"/>
                </a:solidFill>
                <a:latin typeface="Courier New" pitchFamily="34" charset="0"/>
                <a:ea typeface="Courier New" pitchFamily="34" charset="-122"/>
                <a:cs typeface="Courier New" pitchFamily="34" charset="-120"/>
              </a:rPr>
              <a:t>$ </a:t>
            </a:r>
            <a:pPr indent="0" marL="0">
              <a:buNone/>
            </a:pPr>
            <a:r>
              <a:rPr lang="en-US" sz="1400" dirty="0">
                <a:solidFill>
                  <a:srgbClr val="FFFFFF"/>
                </a:solidFill>
                <a:latin typeface="Courier New" pitchFamily="34" charset="0"/>
                <a:ea typeface="Courier New" pitchFamily="34" charset="-122"/>
                <a:cs typeface="Courier New" pitchFamily="34" charset="-120"/>
              </a:rPr>
              <a:t>printf 'start dev\n'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python main.py --text --dry-run</a:t>
            </a:r>
            <a:endParaRPr lang="en-US" sz="1400" dirty="0"/>
          </a:p>
          <a:p>
            <a:pPr indent="0" marL="0">
              <a:buNone/>
            </a:pPr>
            <a:r>
              <a:rPr lang="en-US" sz="1400" dirty="0">
                <a:solidFill>
                  <a:srgbClr val="000000"/>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B8C1CC"/>
                </a:solidFill>
                <a:latin typeface="Courier New" pitchFamily="34" charset="0"/>
                <a:ea typeface="Courier New" pitchFamily="34" charset="-122"/>
                <a:cs typeface="Courier New" pitchFamily="34" charset="-120"/>
              </a:rPr>
              <a:t>{"command": "start dev",</a:t>
            </a:r>
            <a:endParaRPr lang="en-US" sz="1400" dirty="0"/>
          </a:p>
          <a:p>
            <a:pPr indent="0" marL="0">
              <a:buNone/>
            </a:pPr>
            <a:r>
              <a:rPr lang="en-US" sz="1400" dirty="0">
                <a:solidFill>
                  <a:srgbClr val="B8C1CC"/>
                </a:solidFill>
                <a:latin typeface="Courier New" pitchFamily="34" charset="0"/>
                <a:ea typeface="Courier New" pitchFamily="34" charset="-122"/>
                <a:cs typeface="Courier New" pitchFamily="34" charset="-120"/>
              </a:rPr>
              <a:t> "action": </a:t>
            </a:r>
            <a:pPr indent="0" marL="0">
              <a:buNone/>
            </a:pPr>
            <a:r>
              <a:rPr lang="en-US" sz="1400" dirty="0">
                <a:solidFill>
                  <a:srgbClr val="E8A33D"/>
                </a:solidFill>
                <a:latin typeface="Courier New" pitchFamily="34" charset="0"/>
                <a:ea typeface="Courier New" pitchFamily="34" charset="-122"/>
                <a:cs typeface="Courier New" pitchFamily="34" charset="-120"/>
              </a:rPr>
              <a:t>"macro"</a:t>
            </a:r>
            <a:endParaRPr lang="en-US" sz="1400" dirty="0"/>
          </a:p>
          <a:p>
            <a:pPr indent="0" marL="0">
              <a:buNone/>
            </a:pPr>
            <a:r>
              <a:rPr lang="en-US" sz="1400" dirty="0">
                <a:solidFill>
                  <a:srgbClr val="B8C1CC"/>
                </a:solidFill>
                <a:latin typeface="Courier New" pitchFamily="34" charset="0"/>
                <a:ea typeface="Courier New" pitchFamily="34" charset="-122"/>
                <a:cs typeface="Courier New" pitchFamily="34" charset="-120"/>
              </a:rPr>
              <a:t> "platform": "macos",</a:t>
            </a:r>
            <a:endParaRPr lang="en-US" sz="1400" dirty="0"/>
          </a:p>
          <a:p>
            <a:pPr indent="0" marL="0">
              <a:buNone/>
            </a:pPr>
            <a:r>
              <a:rPr lang="en-US" sz="1400" dirty="0">
                <a:solidFill>
                  <a:srgbClr val="B8C1CC"/>
                </a:solidFill>
                <a:latin typeface="Courier New" pitchFamily="34" charset="0"/>
                <a:ea typeface="Courier New" pitchFamily="34" charset="-122"/>
                <a:cs typeface="Courier New" pitchFamily="34" charset="-120"/>
              </a:rPr>
              <a:t> "steps": [</a:t>
            </a:r>
            <a:endParaRPr lang="en-US" sz="1400" dirty="0"/>
          </a:p>
          <a:p>
            <a:pPr indent="0" marL="0">
              <a:buNone/>
            </a:pPr>
            <a:r>
              <a:rPr lang="en-US" sz="1400" dirty="0">
                <a:solidFill>
                  <a:srgbClr val="B8C1CC"/>
                </a:solidFill>
                <a:latin typeface="Courier New" pitchFamily="34" charset="0"/>
                <a:ea typeface="Courier New" pitchFamily="34" charset="-122"/>
                <a:cs typeface="Courier New" pitchFamily="34" charset="-120"/>
              </a:rPr>
              <a:t>   {"action": "launch",</a:t>
            </a:r>
            <a:endParaRPr lang="en-US" sz="1400" dirty="0"/>
          </a:p>
          <a:p>
            <a:pPr indent="0" marL="0">
              <a:buNone/>
            </a:pPr>
            <a:r>
              <a:rPr lang="en-US" sz="1400" dirty="0">
                <a:solidFill>
                  <a:srgbClr val="B8C1CC"/>
                </a:solidFill>
                <a:latin typeface="Courier New" pitchFamily="34" charset="0"/>
                <a:ea typeface="Courier New" pitchFamily="34" charset="-122"/>
                <a:cs typeface="Courier New" pitchFamily="34" charset="-120"/>
              </a:rPr>
              <a:t>    "target": </a:t>
            </a:r>
            <a:pPr indent="0" marL="0">
              <a:buNone/>
            </a:pPr>
            <a:r>
              <a:rPr lang="en-US" sz="1400" dirty="0">
                <a:solidFill>
                  <a:srgbClr val="2FBF71"/>
                </a:solidFill>
                <a:latin typeface="Courier New" pitchFamily="34" charset="0"/>
                <a:ea typeface="Courier New" pitchFamily="34" charset="-122"/>
                <a:cs typeface="Courier New" pitchFamily="34" charset="-120"/>
              </a:rPr>
              <a:t>"Terminal"</a:t>
            </a:r>
            <a:endParaRPr lang="en-US" sz="1400" dirty="0"/>
          </a:p>
          <a:p>
            <a:pPr indent="0" marL="0">
              <a:buNone/>
            </a:pPr>
            <a:r>
              <a:rPr lang="en-US" sz="1400" dirty="0">
                <a:solidFill>
                  <a:srgbClr val="B8C1CC"/>
                </a:solidFill>
                <a:latin typeface="Courier New" pitchFamily="34" charset="0"/>
                <a:ea typeface="Courier New" pitchFamily="34" charset="-122"/>
                <a:cs typeface="Courier New" pitchFamily="34" charset="-120"/>
              </a:rPr>
              <a:t>   {"action": "terminal",</a:t>
            </a:r>
            <a:endParaRPr lang="en-US" sz="1400" dirty="0"/>
          </a:p>
          <a:p>
            <a:pPr indent="0" marL="0">
              <a:buNone/>
            </a:pPr>
            <a:r>
              <a:rPr lang="en-US" sz="1400" dirty="0">
                <a:solidFill>
                  <a:srgbClr val="B8C1CC"/>
                </a:solidFill>
                <a:latin typeface="Courier New" pitchFamily="34" charset="0"/>
                <a:ea typeface="Courier New" pitchFamily="34" charset="-122"/>
                <a:cs typeface="Courier New" pitchFamily="34" charset="-120"/>
              </a:rPr>
              <a:t>    "target": </a:t>
            </a:r>
            <a:pPr indent="0" marL="0">
              <a:buNone/>
            </a:pPr>
            <a:r>
              <a:rPr lang="en-US" sz="1400" dirty="0">
                <a:solidFill>
                  <a:srgbClr val="2FBF71"/>
                </a:solidFill>
                <a:latin typeface="Courier New" pitchFamily="34" charset="0"/>
                <a:ea typeface="Courier New" pitchFamily="34" charset="-122"/>
                <a:cs typeface="Courier New" pitchFamily="34" charset="-120"/>
              </a:rPr>
              <a:t>"npm run dev"</a:t>
            </a:r>
            <a:endParaRPr lang="en-US" sz="1400" dirty="0"/>
          </a:p>
          <a:p>
            <a:pPr indent="0" marL="0">
              <a:buNone/>
            </a:pPr>
            <a:r>
              <a:rPr lang="en-US" sz="1400" dirty="0">
                <a:solidFill>
                  <a:srgbClr val="B8C1CC"/>
                </a:solidFill>
                <a:latin typeface="Courier New" pitchFamily="34" charset="0"/>
                <a:ea typeface="Courier New" pitchFamily="34" charset="-122"/>
                <a:cs typeface="Courier New" pitchFamily="34" charset="-120"/>
              </a:rPr>
              <a:t> ]}</a:t>
            </a:r>
            <a:endParaRPr lang="en-US" sz="1400" dirty="0"/>
          </a:p>
        </p:txBody>
      </p:sp>
      <p:sp>
        <p:nvSpPr>
          <p:cNvPr id="8" name="Shape 6"/>
          <p:cNvSpPr/>
          <p:nvPr/>
        </p:nvSpPr>
        <p:spPr>
          <a:xfrm>
            <a:off x="7178040" y="1417320"/>
            <a:ext cx="640080" cy="640080"/>
          </a:xfrm>
          <a:prstGeom prst="ellipse">
            <a:avLst/>
          </a:prstGeom>
          <a:solidFill>
            <a:srgbClr val="A56EFF"/>
          </a:solidFill>
          <a:ln w="12700">
            <a:solidFill>
              <a:srgbClr val="A56EFF"/>
            </a:solidFill>
            <a:prstDash val="solid"/>
          </a:ln>
        </p:spPr>
      </p:sp>
      <p:pic>
        <p:nvPicPr>
          <p:cNvPr id="9" name="Image 0" descr="preencoded.png">    </p:cNvPr>
          <p:cNvPicPr>
            <a:picLocks noChangeAspect="1"/>
          </p:cNvPicPr>
          <p:nvPr/>
        </p:nvPicPr>
        <p:blipFill>
          <a:blip r:embed="rId1"/>
          <a:stretch>
            <a:fillRect/>
          </a:stretch>
        </p:blipFill>
        <p:spPr>
          <a:xfrm>
            <a:off x="7350862" y="1590142"/>
            <a:ext cx="294437" cy="294437"/>
          </a:xfrm>
          <a:prstGeom prst="rect">
            <a:avLst/>
          </a:prstGeom>
        </p:spPr>
      </p:pic>
      <p:sp>
        <p:nvSpPr>
          <p:cNvPr id="10" name="Text 7"/>
          <p:cNvSpPr/>
          <p:nvPr/>
        </p:nvSpPr>
        <p:spPr>
          <a:xfrm>
            <a:off x="8046720" y="1371600"/>
            <a:ext cx="3520440" cy="411480"/>
          </a:xfrm>
          <a:prstGeom prst="rect">
            <a:avLst/>
          </a:prstGeom>
          <a:noFill/>
          <a:ln/>
        </p:spPr>
        <p:txBody>
          <a:bodyPr wrap="square" lIns="0" tIns="0" rIns="0" bIns="0" rtlCol="0" anchor="ctr"/>
          <a:lstStyle/>
          <a:p>
            <a:pPr indent="0" marL="0">
              <a:buNone/>
            </a:pPr>
            <a:r>
              <a:rPr lang="en-US" sz="1800" b="1" dirty="0">
                <a:solidFill>
                  <a:srgbClr val="1B2430"/>
                </a:solidFill>
                <a:latin typeface="Arial" pitchFamily="34" charset="0"/>
                <a:ea typeface="Arial" pitchFamily="34" charset="-122"/>
                <a:cs typeface="Arial" pitchFamily="34" charset="-120"/>
              </a:rPr>
              <a:t>Dry-run plans</a:t>
            </a:r>
            <a:endParaRPr lang="en-US" sz="1800" dirty="0"/>
          </a:p>
        </p:txBody>
      </p:sp>
      <p:sp>
        <p:nvSpPr>
          <p:cNvPr id="11" name="Text 8"/>
          <p:cNvSpPr/>
          <p:nvPr/>
        </p:nvSpPr>
        <p:spPr>
          <a:xfrm>
            <a:off x="8046720" y="1783080"/>
            <a:ext cx="3520440" cy="868680"/>
          </a:xfrm>
          <a:prstGeom prst="rect">
            <a:avLst/>
          </a:prstGeom>
          <a:noFill/>
          <a:ln/>
        </p:spPr>
        <p:txBody>
          <a:bodyPr wrap="square" lIns="0" tIns="0" rIns="0" bIns="0" rtlCol="0" anchor="t"/>
          <a:lstStyle/>
          <a:p>
            <a:pPr indent="0" marL="0">
              <a:buNone/>
            </a:pPr>
            <a:r>
              <a:rPr lang="en-US" sz="1250" dirty="0">
                <a:solidFill>
                  <a:srgbClr val="5B6675"/>
                </a:solidFill>
                <a:latin typeface="Arial" pitchFamily="34" charset="0"/>
                <a:ea typeface="Arial" pitchFamily="34" charset="-122"/>
                <a:cs typeface="Arial" pitchFamily="34" charset="-120"/>
              </a:rPr>
              <a:t>CommandParser.plan() returns what would happen on Windows, macOS or Linux, without touching the machine.</a:t>
            </a:r>
            <a:endParaRPr lang="en-US" sz="1250" dirty="0"/>
          </a:p>
        </p:txBody>
      </p:sp>
      <p:sp>
        <p:nvSpPr>
          <p:cNvPr id="12" name="Shape 9"/>
          <p:cNvSpPr/>
          <p:nvPr/>
        </p:nvSpPr>
        <p:spPr>
          <a:xfrm>
            <a:off x="7178040" y="2834640"/>
            <a:ext cx="640080" cy="640080"/>
          </a:xfrm>
          <a:prstGeom prst="ellipse">
            <a:avLst/>
          </a:prstGeom>
          <a:solidFill>
            <a:srgbClr val="0F62FE"/>
          </a:solidFill>
          <a:ln w="12700">
            <a:solidFill>
              <a:srgbClr val="0F62FE"/>
            </a:solidFill>
            <a:prstDash val="solid"/>
          </a:ln>
        </p:spPr>
      </p:sp>
      <p:pic>
        <p:nvPicPr>
          <p:cNvPr id="13" name="Image 1" descr="preencoded.png">    </p:cNvPr>
          <p:cNvPicPr>
            <a:picLocks noChangeAspect="1"/>
          </p:cNvPicPr>
          <p:nvPr/>
        </p:nvPicPr>
        <p:blipFill>
          <a:blip r:embed="rId2"/>
          <a:stretch>
            <a:fillRect/>
          </a:stretch>
        </p:blipFill>
        <p:spPr>
          <a:xfrm>
            <a:off x="7350862" y="3007462"/>
            <a:ext cx="294437" cy="294437"/>
          </a:xfrm>
          <a:prstGeom prst="rect">
            <a:avLst/>
          </a:prstGeom>
        </p:spPr>
      </p:pic>
      <p:sp>
        <p:nvSpPr>
          <p:cNvPr id="14" name="Text 10"/>
          <p:cNvSpPr/>
          <p:nvPr/>
        </p:nvSpPr>
        <p:spPr>
          <a:xfrm>
            <a:off x="8046720" y="2788920"/>
            <a:ext cx="3520440" cy="411480"/>
          </a:xfrm>
          <a:prstGeom prst="rect">
            <a:avLst/>
          </a:prstGeom>
          <a:noFill/>
          <a:ln/>
        </p:spPr>
        <p:txBody>
          <a:bodyPr wrap="square" lIns="0" tIns="0" rIns="0" bIns="0" rtlCol="0" anchor="ctr"/>
          <a:lstStyle/>
          <a:p>
            <a:pPr indent="0" marL="0">
              <a:buNone/>
            </a:pPr>
            <a:r>
              <a:rPr lang="en-US" sz="1800" b="1" dirty="0">
                <a:solidFill>
                  <a:srgbClr val="1B2430"/>
                </a:solidFill>
                <a:latin typeface="Arial" pitchFamily="34" charset="0"/>
                <a:ea typeface="Arial" pitchFamily="34" charset="-122"/>
                <a:cs typeface="Arial" pitchFamily="34" charset="-120"/>
              </a:rPr>
              <a:t>Web playground</a:t>
            </a:r>
            <a:endParaRPr lang="en-US" sz="1800" dirty="0"/>
          </a:p>
        </p:txBody>
      </p:sp>
      <p:sp>
        <p:nvSpPr>
          <p:cNvPr id="15" name="Text 11"/>
          <p:cNvSpPr/>
          <p:nvPr/>
        </p:nvSpPr>
        <p:spPr>
          <a:xfrm>
            <a:off x="8046720" y="3200400"/>
            <a:ext cx="3520440" cy="868680"/>
          </a:xfrm>
          <a:prstGeom prst="rect">
            <a:avLst/>
          </a:prstGeom>
          <a:noFill/>
          <a:ln/>
        </p:spPr>
        <p:txBody>
          <a:bodyPr wrap="square" lIns="0" tIns="0" rIns="0" bIns="0" rtlCol="0" anchor="t"/>
          <a:lstStyle/>
          <a:p>
            <a:pPr indent="0" marL="0">
              <a:buNone/>
            </a:pPr>
            <a:r>
              <a:rPr lang="en-US" sz="1250" dirty="0">
                <a:solidFill>
                  <a:srgbClr val="5B6675"/>
                </a:solidFill>
                <a:latin typeface="Arial" pitchFamily="34" charset="0"/>
                <a:ea typeface="Arial" pitchFamily="34" charset="-122"/>
                <a:cs typeface="Arial" pitchFamily="34" charset="-120"/>
              </a:rPr>
              <a:t>FastAPI and the Web Speech API, always dry-run. A test proves no process is ever spawned.</a:t>
            </a:r>
            <a:endParaRPr lang="en-US" sz="1250" dirty="0"/>
          </a:p>
        </p:txBody>
      </p:sp>
      <p:sp>
        <p:nvSpPr>
          <p:cNvPr id="16" name="Shape 12"/>
          <p:cNvSpPr/>
          <p:nvPr/>
        </p:nvSpPr>
        <p:spPr>
          <a:xfrm>
            <a:off x="7178040" y="4251960"/>
            <a:ext cx="640080" cy="640080"/>
          </a:xfrm>
          <a:prstGeom prst="ellipse">
            <a:avLst/>
          </a:prstGeom>
          <a:solidFill>
            <a:srgbClr val="E8A33D"/>
          </a:solidFill>
          <a:ln w="12700">
            <a:solidFill>
              <a:srgbClr val="E8A33D"/>
            </a:solidFill>
            <a:prstDash val="solid"/>
          </a:ln>
        </p:spPr>
      </p:sp>
      <p:pic>
        <p:nvPicPr>
          <p:cNvPr id="17" name="Image 2" descr="preencoded.png">    </p:cNvPr>
          <p:cNvPicPr>
            <a:picLocks noChangeAspect="1"/>
          </p:cNvPicPr>
          <p:nvPr/>
        </p:nvPicPr>
        <p:blipFill>
          <a:blip r:embed="rId3"/>
          <a:stretch>
            <a:fillRect/>
          </a:stretch>
        </p:blipFill>
        <p:spPr>
          <a:xfrm>
            <a:off x="7350862" y="4424782"/>
            <a:ext cx="294437" cy="294437"/>
          </a:xfrm>
          <a:prstGeom prst="rect">
            <a:avLst/>
          </a:prstGeom>
        </p:spPr>
      </p:pic>
      <p:sp>
        <p:nvSpPr>
          <p:cNvPr id="18" name="Text 13"/>
          <p:cNvSpPr/>
          <p:nvPr/>
        </p:nvSpPr>
        <p:spPr>
          <a:xfrm>
            <a:off x="8046720" y="4206240"/>
            <a:ext cx="3520440" cy="411480"/>
          </a:xfrm>
          <a:prstGeom prst="rect">
            <a:avLst/>
          </a:prstGeom>
          <a:noFill/>
          <a:ln/>
        </p:spPr>
        <p:txBody>
          <a:bodyPr wrap="square" lIns="0" tIns="0" rIns="0" bIns="0" rtlCol="0" anchor="ctr"/>
          <a:lstStyle/>
          <a:p>
            <a:pPr indent="0" marL="0">
              <a:buNone/>
            </a:pPr>
            <a:r>
              <a:rPr lang="en-US" sz="1800" b="1" dirty="0">
                <a:solidFill>
                  <a:srgbClr val="1B2430"/>
                </a:solidFill>
                <a:latin typeface="Arial" pitchFamily="34" charset="0"/>
                <a:ea typeface="Arial" pitchFamily="34" charset="-122"/>
                <a:cs typeface="Arial" pitchFamily="34" charset="-120"/>
              </a:rPr>
              <a:t>Safety layer</a:t>
            </a:r>
            <a:endParaRPr lang="en-US" sz="1800" dirty="0"/>
          </a:p>
        </p:txBody>
      </p:sp>
      <p:sp>
        <p:nvSpPr>
          <p:cNvPr id="19" name="Text 14"/>
          <p:cNvSpPr/>
          <p:nvPr/>
        </p:nvSpPr>
        <p:spPr>
          <a:xfrm>
            <a:off x="8046720" y="4617720"/>
            <a:ext cx="3520440" cy="868680"/>
          </a:xfrm>
          <a:prstGeom prst="rect">
            <a:avLst/>
          </a:prstGeom>
          <a:noFill/>
          <a:ln/>
        </p:spPr>
        <p:txBody>
          <a:bodyPr wrap="square" lIns="0" tIns="0" rIns="0" bIns="0" rtlCol="0" anchor="t"/>
          <a:lstStyle/>
          <a:p>
            <a:pPr indent="0" marL="0">
              <a:buNone/>
            </a:pPr>
            <a:r>
              <a:rPr lang="en-US" sz="1250" dirty="0">
                <a:solidFill>
                  <a:srgbClr val="5B6675"/>
                </a:solidFill>
                <a:latin typeface="Arial" pitchFamily="34" charset="0"/>
                <a:ea typeface="Arial" pitchFamily="34" charset="-122"/>
                <a:cs typeface="Arial" pitchFamily="34" charset="-120"/>
              </a:rPr>
              <a:t>Confirmation for destructive commands, no shell=True, AppleScript via argv, redacted logs.</a:t>
            </a:r>
            <a:endParaRPr lang="en-US" sz="1250" dirty="0"/>
          </a:p>
        </p:txBody>
      </p:sp>
      <p:sp>
        <p:nvSpPr>
          <p:cNvPr id="20" name="Text 15"/>
          <p:cNvSpPr/>
          <p:nvPr/>
        </p:nvSpPr>
        <p:spPr>
          <a:xfrm>
            <a:off x="7178040" y="5532120"/>
            <a:ext cx="4389120" cy="365760"/>
          </a:xfrm>
          <a:prstGeom prst="roundRect">
            <a:avLst>
              <a:gd name="adj" fmla="val 20000"/>
            </a:avLst>
          </a:prstGeom>
          <a:solidFill>
            <a:srgbClr val="0F62FE"/>
          </a:solid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 smartdesktop-playground.onrender.com</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An honest record, and what's next</a:t>
            </a:r>
            <a:endParaRPr lang="en-US" sz="3400" dirty="0"/>
          </a:p>
        </p:txBody>
      </p:sp>
      <p:sp>
        <p:nvSpPr>
          <p:cNvPr id="3" name="Shape 1"/>
          <p:cNvSpPr/>
          <p:nvPr/>
        </p:nvSpPr>
        <p:spPr>
          <a:xfrm>
            <a:off x="640080" y="1371600"/>
            <a:ext cx="502920" cy="502920"/>
          </a:xfrm>
          <a:prstGeom prst="ellipse">
            <a:avLst/>
          </a:prstGeom>
          <a:solidFill>
            <a:srgbClr val="0F62FE"/>
          </a:solidFill>
          <a:ln w="12700">
            <a:solidFill>
              <a:srgbClr val="0F62FE"/>
            </a:solidFill>
            <a:prstDash val="solid"/>
          </a:ln>
        </p:spPr>
      </p:sp>
      <p:pic>
        <p:nvPicPr>
          <p:cNvPr id="4" name="Image 0" descr="preencoded.png">    </p:cNvPr>
          <p:cNvPicPr>
            <a:picLocks noChangeAspect="1"/>
          </p:cNvPicPr>
          <p:nvPr/>
        </p:nvPicPr>
        <p:blipFill>
          <a:blip r:embed="rId1"/>
          <a:stretch>
            <a:fillRect/>
          </a:stretch>
        </p:blipFill>
        <p:spPr>
          <a:xfrm>
            <a:off x="775868" y="1507388"/>
            <a:ext cx="231343" cy="231343"/>
          </a:xfrm>
          <a:prstGeom prst="rect">
            <a:avLst/>
          </a:prstGeom>
        </p:spPr>
      </p:pic>
      <p:sp>
        <p:nvSpPr>
          <p:cNvPr id="5" name="Text 2"/>
          <p:cNvSpPr/>
          <p:nvPr/>
        </p:nvSpPr>
        <p:spPr>
          <a:xfrm>
            <a:off x="1280160" y="1371600"/>
            <a:ext cx="4572000" cy="5029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Where Bob was corrected</a:t>
            </a:r>
            <a:endParaRPr lang="en-US" sz="2000" dirty="0"/>
          </a:p>
        </p:txBody>
      </p:sp>
      <p:sp>
        <p:nvSpPr>
          <p:cNvPr id="6" name="Text 3"/>
          <p:cNvSpPr/>
          <p:nvPr/>
        </p:nvSpPr>
        <p:spPr>
          <a:xfrm>
            <a:off x="640080" y="2148840"/>
            <a:ext cx="457200" cy="457200"/>
          </a:xfrm>
          <a:prstGeom prst="roundRect">
            <a:avLst>
              <a:gd name="adj" fmla="val 16000"/>
            </a:avLst>
          </a:prstGeom>
          <a:solidFill>
            <a:srgbClr val="1A2029"/>
          </a:solidFill>
          <a:ln/>
        </p:spPr>
        <p:txBody>
          <a:bodyPr wrap="square" lIns="0" tIns="0" rIns="0" bIns="0" rtlCol="0" anchor="ctr"/>
          <a:lstStyle/>
          <a:p>
            <a:pPr algn="ctr" indent="0" marL="0">
              <a:buNone/>
            </a:pPr>
            <a:r>
              <a:rPr lang="en-US" sz="1300" b="1" dirty="0">
                <a:solidFill>
                  <a:srgbClr val="78A9FF"/>
                </a:solidFill>
                <a:latin typeface="Courier New" pitchFamily="34" charset="0"/>
                <a:ea typeface="Courier New" pitchFamily="34" charset="-122"/>
                <a:cs typeface="Courier New" pitchFamily="34" charset="-120"/>
              </a:rPr>
              <a:t>1</a:t>
            </a:r>
            <a:endParaRPr lang="en-US" sz="1300" dirty="0"/>
          </a:p>
        </p:txBody>
      </p:sp>
      <p:sp>
        <p:nvSpPr>
          <p:cNvPr id="7" name="Text 4"/>
          <p:cNvSpPr/>
          <p:nvPr/>
        </p:nvSpPr>
        <p:spPr>
          <a:xfrm>
            <a:off x="1325880" y="2103120"/>
            <a:ext cx="4754880" cy="86868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Logged planned actions instead of returning them.</a:t>
            </a:r>
            <a:endParaRPr lang="en-US" sz="1350" dirty="0"/>
          </a:p>
          <a:p>
            <a:pPr indent="0" marL="0">
              <a:buNone/>
            </a:pPr>
            <a:r>
              <a:rPr lang="en-US" sz="1350" dirty="0">
                <a:solidFill>
                  <a:srgbClr val="B8C1CC"/>
                </a:solidFill>
                <a:latin typeface="Arial" pitchFamily="34" charset="0"/>
                <a:ea typeface="Arial" pitchFamily="34" charset="-122"/>
                <a:cs typeface="Arial" pitchFamily="34" charset="-120"/>
              </a:rPr>
              <a:t>A follow-up added CommandParser.plan().</a:t>
            </a:r>
            <a:endParaRPr lang="en-US" sz="1350" dirty="0"/>
          </a:p>
        </p:txBody>
      </p:sp>
      <p:sp>
        <p:nvSpPr>
          <p:cNvPr id="8" name="Text 5"/>
          <p:cNvSpPr/>
          <p:nvPr/>
        </p:nvSpPr>
        <p:spPr>
          <a:xfrm>
            <a:off x="640080" y="3246120"/>
            <a:ext cx="457200" cy="457200"/>
          </a:xfrm>
          <a:prstGeom prst="roundRect">
            <a:avLst>
              <a:gd name="adj" fmla="val 16000"/>
            </a:avLst>
          </a:prstGeom>
          <a:solidFill>
            <a:srgbClr val="1A2029"/>
          </a:solidFill>
          <a:ln/>
        </p:spPr>
        <p:txBody>
          <a:bodyPr wrap="square" lIns="0" tIns="0" rIns="0" bIns="0" rtlCol="0" anchor="ctr"/>
          <a:lstStyle/>
          <a:p>
            <a:pPr algn="ctr" indent="0" marL="0">
              <a:buNone/>
            </a:pPr>
            <a:r>
              <a:rPr lang="en-US" sz="1300" b="1" dirty="0">
                <a:solidFill>
                  <a:srgbClr val="78A9FF"/>
                </a:solidFill>
                <a:latin typeface="Courier New" pitchFamily="34" charset="0"/>
                <a:ea typeface="Courier New" pitchFamily="34" charset="-122"/>
                <a:cs typeface="Courier New" pitchFamily="34" charset="-120"/>
              </a:rPr>
              <a:t>2</a:t>
            </a:r>
            <a:endParaRPr lang="en-US" sz="1300" dirty="0"/>
          </a:p>
        </p:txBody>
      </p:sp>
      <p:sp>
        <p:nvSpPr>
          <p:cNvPr id="9" name="Text 6"/>
          <p:cNvSpPr/>
          <p:nvPr/>
        </p:nvSpPr>
        <p:spPr>
          <a:xfrm>
            <a:off x="1325880" y="3200400"/>
            <a:ext cx="4754880" cy="86868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Rebuilt the playground and dropped 29 of 30 tests.</a:t>
            </a:r>
            <a:endParaRPr lang="en-US" sz="1350" dirty="0"/>
          </a:p>
          <a:p>
            <a:pPr indent="0" marL="0">
              <a:buNone/>
            </a:pPr>
            <a:r>
              <a:rPr lang="en-US" sz="1350" dirty="0">
                <a:solidFill>
                  <a:srgbClr val="B8C1CC"/>
                </a:solidFill>
                <a:latin typeface="Arial" pitchFamily="34" charset="0"/>
                <a:ea typeface="Arial" pitchFamily="34" charset="-122"/>
                <a:cs typeface="Arial" pitchFamily="34" charset="-120"/>
              </a:rPr>
              <a:t>The guardrails caught it. Bob restored all 30 and added 12.</a:t>
            </a:r>
            <a:endParaRPr lang="en-US" sz="1350" dirty="0"/>
          </a:p>
        </p:txBody>
      </p:sp>
      <p:sp>
        <p:nvSpPr>
          <p:cNvPr id="10" name="Text 7"/>
          <p:cNvSpPr/>
          <p:nvPr/>
        </p:nvSpPr>
        <p:spPr>
          <a:xfrm>
            <a:off x="640080" y="4343400"/>
            <a:ext cx="457200" cy="457200"/>
          </a:xfrm>
          <a:prstGeom prst="roundRect">
            <a:avLst>
              <a:gd name="adj" fmla="val 16000"/>
            </a:avLst>
          </a:prstGeom>
          <a:solidFill>
            <a:srgbClr val="1A2029"/>
          </a:solidFill>
          <a:ln/>
        </p:spPr>
        <p:txBody>
          <a:bodyPr wrap="square" lIns="0" tIns="0" rIns="0" bIns="0" rtlCol="0" anchor="ctr"/>
          <a:lstStyle/>
          <a:p>
            <a:pPr algn="ctr" indent="0" marL="0">
              <a:buNone/>
            </a:pPr>
            <a:r>
              <a:rPr lang="en-US" sz="1300" b="1" dirty="0">
                <a:solidFill>
                  <a:srgbClr val="78A9FF"/>
                </a:solidFill>
                <a:latin typeface="Courier New" pitchFamily="34" charset="0"/>
                <a:ea typeface="Courier New" pitchFamily="34" charset="-122"/>
                <a:cs typeface="Courier New" pitchFamily="34" charset="-120"/>
              </a:rPr>
              <a:t>3</a:t>
            </a:r>
            <a:endParaRPr lang="en-US" sz="1300" dirty="0"/>
          </a:p>
        </p:txBody>
      </p:sp>
      <p:sp>
        <p:nvSpPr>
          <p:cNvPr id="11" name="Text 8"/>
          <p:cNvSpPr/>
          <p:nvPr/>
        </p:nvSpPr>
        <p:spPr>
          <a:xfrm>
            <a:off x="1325880" y="4297680"/>
            <a:ext cx="4754880" cy="86868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Missed an import that Python 3.14 hid.</a:t>
            </a:r>
            <a:endParaRPr lang="en-US" sz="1350" dirty="0"/>
          </a:p>
          <a:p>
            <a:pPr indent="0" marL="0">
              <a:buNone/>
            </a:pPr>
            <a:r>
              <a:rPr lang="en-US" sz="1350" dirty="0">
                <a:solidFill>
                  <a:srgbClr val="B8C1CC"/>
                </a:solidFill>
                <a:latin typeface="Arial" pitchFamily="34" charset="0"/>
                <a:ea typeface="Arial" pitchFamily="34" charset="-122"/>
                <a:cs typeface="Arial" pitchFamily="34" charset="-120"/>
              </a:rPr>
              <a:t>CI on 3.10 / 3.12 caught it. Bob fixed it and ran pyflakes.</a:t>
            </a:r>
            <a:endParaRPr lang="en-US" sz="1350" dirty="0"/>
          </a:p>
        </p:txBody>
      </p:sp>
      <p:sp>
        <p:nvSpPr>
          <p:cNvPr id="12" name="Shape 9"/>
          <p:cNvSpPr/>
          <p:nvPr/>
        </p:nvSpPr>
        <p:spPr>
          <a:xfrm>
            <a:off x="6675120" y="1371600"/>
            <a:ext cx="502920" cy="502920"/>
          </a:xfrm>
          <a:prstGeom prst="ellipse">
            <a:avLst/>
          </a:prstGeom>
          <a:solidFill>
            <a:srgbClr val="A56EFF"/>
          </a:solidFill>
          <a:ln w="12700">
            <a:solidFill>
              <a:srgbClr val="A56EFF"/>
            </a:solidFill>
            <a:prstDash val="solid"/>
          </a:ln>
        </p:spPr>
      </p:sp>
      <p:pic>
        <p:nvPicPr>
          <p:cNvPr id="13" name="Image 1" descr="preencoded.png">    </p:cNvPr>
          <p:cNvPicPr>
            <a:picLocks noChangeAspect="1"/>
          </p:cNvPicPr>
          <p:nvPr/>
        </p:nvPicPr>
        <p:blipFill>
          <a:blip r:embed="rId2"/>
          <a:stretch>
            <a:fillRect/>
          </a:stretch>
        </p:blipFill>
        <p:spPr>
          <a:xfrm>
            <a:off x="6810908" y="1507388"/>
            <a:ext cx="231343" cy="231343"/>
          </a:xfrm>
          <a:prstGeom prst="rect">
            <a:avLst/>
          </a:prstGeom>
        </p:spPr>
      </p:pic>
      <p:sp>
        <p:nvSpPr>
          <p:cNvPr id="14" name="Text 10"/>
          <p:cNvSpPr/>
          <p:nvPr/>
        </p:nvSpPr>
        <p:spPr>
          <a:xfrm>
            <a:off x="7315200" y="1371600"/>
            <a:ext cx="4206240" cy="5029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Next</a:t>
            </a:r>
            <a:endParaRPr lang="en-US" sz="2000" dirty="0"/>
          </a:p>
        </p:txBody>
      </p:sp>
      <p:sp>
        <p:nvSpPr>
          <p:cNvPr id="15" name="Shape 11"/>
          <p:cNvSpPr/>
          <p:nvPr/>
        </p:nvSpPr>
        <p:spPr>
          <a:xfrm>
            <a:off x="6675120" y="2103120"/>
            <a:ext cx="4892040" cy="2697480"/>
          </a:xfrm>
          <a:prstGeom prst="roundRect">
            <a:avLst>
              <a:gd name="adj" fmla="val 4068"/>
            </a:avLst>
          </a:prstGeom>
          <a:solidFill>
            <a:srgbClr val="1A2029"/>
          </a:solidFill>
          <a:ln w="12700">
            <a:solidFill>
              <a:srgbClr val="1A2029"/>
            </a:solidFill>
            <a:prstDash val="solid"/>
          </a:ln>
        </p:spPr>
      </p:sp>
      <p:sp>
        <p:nvSpPr>
          <p:cNvPr id="16" name="Text 12"/>
          <p:cNvSpPr/>
          <p:nvPr/>
        </p:nvSpPr>
        <p:spPr>
          <a:xfrm>
            <a:off x="6949440" y="2331720"/>
            <a:ext cx="4434840" cy="265176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FFFFFF"/>
                </a:solidFill>
                <a:latin typeface="Arial" pitchFamily="34" charset="0"/>
                <a:ea typeface="Arial" pitchFamily="34" charset="-122"/>
                <a:cs typeface="Arial" pitchFamily="34" charset="-120"/>
              </a:rPr>
              <a:t>Window snapping on macOS and Linux (Windows-only today)</a:t>
            </a:r>
            <a:endParaRPr lang="en-US" sz="1400" dirty="0"/>
          </a:p>
          <a:p>
            <a:pPr marL="342900" indent="-342900">
              <a:spcAft>
                <a:spcPts val="1200"/>
              </a:spcAft>
              <a:buSzPct val="100000"/>
              <a:buChar char="•"/>
            </a:pPr>
            <a:r>
              <a:rPr lang="en-US" sz="1400" dirty="0">
                <a:solidFill>
                  <a:srgbClr val="FFFFFF"/>
                </a:solidFill>
                <a:latin typeface="Arial" pitchFamily="34" charset="0"/>
                <a:ea typeface="Arial" pitchFamily="34" charset="-122"/>
                <a:cs typeface="Arial" pitchFamily="34" charset="-120"/>
              </a:rPr>
              <a:t>Record and transcribe off the wake-word thread</a:t>
            </a:r>
            <a:endParaRPr lang="en-US" sz="1400" dirty="0"/>
          </a:p>
          <a:p>
            <a:pPr marL="342900" indent="-342900">
              <a:spcAft>
                <a:spcPts val="1200"/>
              </a:spcAft>
              <a:buSzPct val="100000"/>
              <a:buChar char="•"/>
            </a:pPr>
            <a:r>
              <a:rPr lang="en-US" sz="1400" dirty="0">
                <a:solidFill>
                  <a:srgbClr val="FFFFFF"/>
                </a:solidFill>
                <a:latin typeface="Arial" pitchFamily="34" charset="0"/>
                <a:ea typeface="Arial" pitchFamily="34" charset="-122"/>
                <a:cs typeface="Arial" pitchFamily="34" charset="-120"/>
              </a:rPr>
              <a:t>Confidence-scored matching instead of substring (S-08)</a:t>
            </a:r>
            <a:endParaRPr lang="en-US" sz="1400" dirty="0"/>
          </a:p>
          <a:p>
            <a:pPr marL="342900" indent="-342900">
              <a:spcAft>
                <a:spcPts val="1200"/>
              </a:spcAft>
              <a:buSzPct val="100000"/>
              <a:buChar char="•"/>
            </a:pPr>
            <a:r>
              <a:rPr lang="en-US" sz="1400" dirty="0">
                <a:solidFill>
                  <a:srgbClr val="FFFFFF"/>
                </a:solidFill>
                <a:latin typeface="Arial" pitchFamily="34" charset="0"/>
                <a:ea typeface="Arial" pitchFamily="34" charset="-122"/>
                <a:cs typeface="Arial" pitchFamily="34" charset="-120"/>
              </a:rPr>
              <a:t>Voice confirmation driven by the structured plan</a:t>
            </a:r>
            <a:endParaRPr lang="en-US" sz="1400" dirty="0"/>
          </a:p>
        </p:txBody>
      </p:sp>
      <p:sp>
        <p:nvSpPr>
          <p:cNvPr id="17" name="Text 13"/>
          <p:cNvSpPr/>
          <p:nvPr/>
        </p:nvSpPr>
        <p:spPr>
          <a:xfrm>
            <a:off x="640080" y="5532120"/>
            <a:ext cx="8686800" cy="685800"/>
          </a:xfrm>
          <a:prstGeom prst="rect">
            <a:avLst/>
          </a:prstGeom>
          <a:noFill/>
          <a:ln/>
        </p:spPr>
        <p:txBody>
          <a:bodyPr wrap="square" lIns="0" tIns="0" rIns="0" bIns="0" rtlCol="0" anchor="ctr"/>
          <a:lstStyle/>
          <a:p>
            <a:pPr indent="0" marL="0">
              <a:buNone/>
            </a:pPr>
            <a:r>
              <a:rPr lang="en-US" sz="1300" dirty="0">
                <a:solidFill>
                  <a:srgbClr val="78A9FF"/>
                </a:solidFill>
                <a:latin typeface="Courier New" pitchFamily="34" charset="0"/>
                <a:ea typeface="Courier New" pitchFamily="34" charset="-122"/>
                <a:cs typeface="Courier New" pitchFamily="34" charset="-120"/>
              </a:rPr>
              <a:t>→ smartdesktop-playground.onrender.com</a:t>
            </a:r>
            <a:endParaRPr lang="en-US" sz="1300" dirty="0"/>
          </a:p>
          <a:p>
            <a:pPr indent="0" marL="0">
              <a:buNone/>
            </a:pPr>
            <a:r>
              <a:rPr lang="en-US" sz="1300" dirty="0">
                <a:solidFill>
                  <a:srgbClr val="B8C1CC"/>
                </a:solidFill>
                <a:latin typeface="Courier New" pitchFamily="34" charset="0"/>
                <a:ea typeface="Courier New" pitchFamily="34" charset="-122"/>
                <a:cs typeface="Courier New" pitchFamily="34" charset="-120"/>
              </a:rPr>
              <a:t>Every Bob transcript: docs/bob-sessions/</a:t>
            </a:r>
            <a:endParaRPr lang="en-US" sz="1300" dirty="0"/>
          </a:p>
        </p:txBody>
      </p:sp>
      <p:pic>
        <p:nvPicPr>
          <p:cNvPr id="18" name="Image 2" descr="preencoded.png">    </p:cNvPr>
          <p:cNvPicPr>
            <a:picLocks noChangeAspect="1"/>
          </p:cNvPicPr>
          <p:nvPr/>
        </p:nvPicPr>
        <p:blipFill>
          <a:blip r:embed="rId3"/>
          <a:stretch>
            <a:fillRect/>
          </a:stretch>
        </p:blipFill>
        <p:spPr>
          <a:xfrm>
            <a:off x="10469880" y="5257800"/>
            <a:ext cx="1097280" cy="10972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smartDesktop × IBM Bob</dc:title>
  <dc:subject>PptxGenJS Presentation</dc:subject>
  <dc:creator>PptxGenJS</dc:creator>
  <cp:lastModifiedBy>PptxGenJS</cp:lastModifiedBy>
  <cp:revision>1</cp:revision>
  <dcterms:created xsi:type="dcterms:W3CDTF">2026-10-01T22:05:30Z</dcterms:created>
  <dcterms:modified xsi:type="dcterms:W3CDTF">2026-10-01T22:05:30Z</dcterms:modified>
</cp:coreProperties>
</file>